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19"/>
  </p:notesMasterIdLst>
  <p:sldIdLst>
    <p:sldId id="257" r:id="rId3"/>
    <p:sldId id="294" r:id="rId4"/>
    <p:sldId id="295" r:id="rId5"/>
    <p:sldId id="299" r:id="rId6"/>
    <p:sldId id="296" r:id="rId7"/>
    <p:sldId id="297" r:id="rId8"/>
    <p:sldId id="298" r:id="rId9"/>
    <p:sldId id="264" r:id="rId10"/>
    <p:sldId id="278" r:id="rId11"/>
    <p:sldId id="279" r:id="rId12"/>
    <p:sldId id="280" r:id="rId13"/>
    <p:sldId id="281" r:id="rId14"/>
    <p:sldId id="282" r:id="rId15"/>
    <p:sldId id="288" r:id="rId16"/>
    <p:sldId id="292" r:id="rId17"/>
    <p:sldId id="293" r:id="rId1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D769AD-D5F3-4A94-8E54-CA56A4F0AC7A}" v="80" dt="2026-04-20T15:41:22.287"/>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pc:chgData name="Andrea Esposito" userId="af663d4e0f6c8da9" providerId="LiveId" clId="{262502FB-FC54-43DB-AB78-73175A28E98A}" dt="2026-04-20T15:45:27.836" v="11194" actId="27636"/>
      <pc:docMkLst>
        <pc:docMk/>
      </pc:docMkLst>
      <pc:sldChg chg="modSp mod">
        <pc:chgData name="Andrea Esposito" userId="af663d4e0f6c8da9" providerId="LiveId" clId="{262502FB-FC54-43DB-AB78-73175A28E98A}" dt="2026-04-20T15:45:27.836" v="11194" actId="27636"/>
        <pc:sldMkLst>
          <pc:docMk/>
          <pc:sldMk cId="1263488033" sldId="257"/>
        </pc:sldMkLst>
        <pc:spChg chg="mod">
          <ac:chgData name="Andrea Esposito" userId="af663d4e0f6c8da9" providerId="LiveId" clId="{262502FB-FC54-43DB-AB78-73175A28E98A}" dt="2026-04-20T15:45:27.836" v="11194" actId="27636"/>
          <ac:spMkLst>
            <pc:docMk/>
            <pc:sldMk cId="1263488033" sldId="257"/>
            <ac:spMk id="2" creationId="{36589F58-A08D-CE97-7557-37E4EE640150}"/>
          </ac:spMkLst>
        </pc:spChg>
        <pc:spChg chg="mod">
          <ac:chgData name="Andrea Esposito" userId="af663d4e0f6c8da9" providerId="LiveId" clId="{262502FB-FC54-43DB-AB78-73175A28E98A}" dt="2026-04-20T13:27:40.427" v="10389" actId="20577"/>
          <ac:spMkLst>
            <pc:docMk/>
            <pc:sldMk cId="1263488033" sldId="257"/>
            <ac:spMk id="5" creationId="{5F7A069C-CC32-2115-EB4B-3687677A3594}"/>
          </ac:spMkLst>
        </pc:spChg>
      </pc:sldChg>
      <pc:sldChg chg="modSp mod">
        <pc:chgData name="Andrea Esposito" userId="af663d4e0f6c8da9" providerId="LiveId" clId="{262502FB-FC54-43DB-AB78-73175A28E98A}" dt="2026-04-20T13:27:59.563" v="10420" actId="20577"/>
        <pc:sldMkLst>
          <pc:docMk/>
          <pc:sldMk cId="2218945759" sldId="264"/>
        </pc:sldMkLst>
        <pc:spChg chg="mod">
          <ac:chgData name="Andrea Esposito" userId="af663d4e0f6c8da9" providerId="LiveId" clId="{262502FB-FC54-43DB-AB78-73175A28E98A}" dt="2026-04-20T13:27:59.563" v="10420" actId="20577"/>
          <ac:spMkLst>
            <pc:docMk/>
            <pc:sldMk cId="2218945759" sldId="264"/>
            <ac:spMk id="2" creationId="{F48363AB-38CE-3AC2-1065-EC960CDCAEA1}"/>
          </ac:spMkLst>
        </pc:spChg>
        <pc:spChg chg="mod">
          <ac:chgData name="Andrea Esposito" userId="af663d4e0f6c8da9" providerId="LiveId" clId="{262502FB-FC54-43DB-AB78-73175A28E98A}" dt="2026-04-13T14:51:56.835" v="10374"/>
          <ac:spMkLst>
            <pc:docMk/>
            <pc:sldMk cId="2218945759" sldId="264"/>
            <ac:spMk id="3" creationId="{FE8E244F-E0E7-6602-DF9C-C278A7003585}"/>
          </ac:spMkLst>
        </pc:spChg>
      </pc:sldChg>
      <pc:sldChg chg="modSp">
        <pc:chgData name="Andrea Esposito" userId="af663d4e0f6c8da9" providerId="LiveId" clId="{262502FB-FC54-43DB-AB78-73175A28E98A}" dt="2026-04-20T13:28:19.705" v="10421" actId="14826"/>
        <pc:sldMkLst>
          <pc:docMk/>
          <pc:sldMk cId="1842148543" sldId="278"/>
        </pc:sldMkLst>
        <pc:picChg chg="mod">
          <ac:chgData name="Andrea Esposito" userId="af663d4e0f6c8da9" providerId="LiveId" clId="{262502FB-FC54-43DB-AB78-73175A28E98A}" dt="2026-04-20T13:28:19.705" v="10421" actId="14826"/>
          <ac:picMkLst>
            <pc:docMk/>
            <pc:sldMk cId="1842148543" sldId="278"/>
            <ac:picMk id="9" creationId="{CB5E335E-6719-D7FE-7FA8-17807A99FDA2}"/>
          </ac:picMkLst>
        </pc:picChg>
      </pc:sldChg>
      <pc:sldChg chg="modSp mod">
        <pc:chgData name="Andrea Esposito" userId="af663d4e0f6c8da9" providerId="LiveId" clId="{262502FB-FC54-43DB-AB78-73175A28E98A}" dt="2026-04-20T13:28:29.169" v="10422" actId="14826"/>
        <pc:sldMkLst>
          <pc:docMk/>
          <pc:sldMk cId="440999752" sldId="279"/>
        </pc:sldMkLst>
        <pc:spChg chg="mod">
          <ac:chgData name="Andrea Esposito" userId="af663d4e0f6c8da9" providerId="LiveId" clId="{262502FB-FC54-43DB-AB78-73175A28E98A}" dt="2026-04-08T18:08:36.042" v="9721" actId="20577"/>
          <ac:spMkLst>
            <pc:docMk/>
            <pc:sldMk cId="440999752" sldId="279"/>
            <ac:spMk id="2" creationId="{5D3C6E78-26E1-A896-00D8-72642E7B51CB}"/>
          </ac:spMkLst>
        </pc:spChg>
        <pc:picChg chg="mod">
          <ac:chgData name="Andrea Esposito" userId="af663d4e0f6c8da9" providerId="LiveId" clId="{262502FB-FC54-43DB-AB78-73175A28E98A}" dt="2026-04-20T13:28:29.169" v="10422" actId="14826"/>
          <ac:picMkLst>
            <pc:docMk/>
            <pc:sldMk cId="440999752" sldId="279"/>
            <ac:picMk id="5" creationId="{E5947B34-239C-979C-B779-56571887CEE4}"/>
          </ac:picMkLst>
        </pc:picChg>
      </pc:sldChg>
      <pc:sldChg chg="modSp mod">
        <pc:chgData name="Andrea Esposito" userId="af663d4e0f6c8da9" providerId="LiveId" clId="{262502FB-FC54-43DB-AB78-73175A28E98A}" dt="2026-04-20T13:28:42.356" v="10423" actId="14826"/>
        <pc:sldMkLst>
          <pc:docMk/>
          <pc:sldMk cId="1110123291" sldId="280"/>
        </pc:sldMkLst>
        <pc:spChg chg="mod">
          <ac:chgData name="Andrea Esposito" userId="af663d4e0f6c8da9" providerId="LiveId" clId="{262502FB-FC54-43DB-AB78-73175A28E98A}" dt="2026-04-08T18:08:26.989" v="9714" actId="20577"/>
          <ac:spMkLst>
            <pc:docMk/>
            <pc:sldMk cId="1110123291" sldId="280"/>
            <ac:spMk id="2" creationId="{55FC346D-60A1-0A4E-4785-3DF47D6A577B}"/>
          </ac:spMkLst>
        </pc:spChg>
        <pc:picChg chg="mod">
          <ac:chgData name="Andrea Esposito" userId="af663d4e0f6c8da9" providerId="LiveId" clId="{262502FB-FC54-43DB-AB78-73175A28E98A}" dt="2026-04-20T13:28:42.356" v="10423" actId="14826"/>
          <ac:picMkLst>
            <pc:docMk/>
            <pc:sldMk cId="1110123291" sldId="280"/>
            <ac:picMk id="8" creationId="{67C966C0-469A-C4F3-4E73-47707D821D59}"/>
          </ac:picMkLst>
        </pc:picChg>
      </pc:sldChg>
      <pc:sldChg chg="modSp mod">
        <pc:chgData name="Andrea Esposito" userId="af663d4e0f6c8da9" providerId="LiveId" clId="{262502FB-FC54-43DB-AB78-73175A28E98A}" dt="2026-04-20T13:28:50.630" v="10424" actId="14826"/>
        <pc:sldMkLst>
          <pc:docMk/>
          <pc:sldMk cId="4184518395" sldId="281"/>
        </pc:sldMkLst>
        <pc:spChg chg="mod">
          <ac:chgData name="Andrea Esposito" userId="af663d4e0f6c8da9" providerId="LiveId" clId="{262502FB-FC54-43DB-AB78-73175A28E98A}" dt="2026-04-08T18:09:13.913" v="9728" actId="20577"/>
          <ac:spMkLst>
            <pc:docMk/>
            <pc:sldMk cId="4184518395" sldId="281"/>
            <ac:spMk id="2" creationId="{648E4098-A90E-7297-148B-44D46EA7E70A}"/>
          </ac:spMkLst>
        </pc:spChg>
        <pc:picChg chg="mod">
          <ac:chgData name="Andrea Esposito" userId="af663d4e0f6c8da9" providerId="LiveId" clId="{262502FB-FC54-43DB-AB78-73175A28E98A}" dt="2026-04-20T13:28:50.630" v="10424" actId="14826"/>
          <ac:picMkLst>
            <pc:docMk/>
            <pc:sldMk cId="4184518395" sldId="281"/>
            <ac:picMk id="10" creationId="{63341522-CA2C-E841-596E-8D8409E83AF8}"/>
          </ac:picMkLst>
        </pc:picChg>
      </pc:sldChg>
      <pc:sldChg chg="modSp mod">
        <pc:chgData name="Andrea Esposito" userId="af663d4e0f6c8da9" providerId="LiveId" clId="{262502FB-FC54-43DB-AB78-73175A28E98A}" dt="2026-04-20T13:29:01.422" v="10425" actId="14826"/>
        <pc:sldMkLst>
          <pc:docMk/>
          <pc:sldMk cId="1134298706" sldId="282"/>
        </pc:sldMkLst>
        <pc:spChg chg="mod">
          <ac:chgData name="Andrea Esposito" userId="af663d4e0f6c8da9" providerId="LiveId" clId="{262502FB-FC54-43DB-AB78-73175A28E98A}" dt="2026-04-08T18:09:32.778" v="9732" actId="20577"/>
          <ac:spMkLst>
            <pc:docMk/>
            <pc:sldMk cId="1134298706" sldId="282"/>
            <ac:spMk id="2" creationId="{5624EFCC-81B2-8263-6C91-786C4A2FA3BF}"/>
          </ac:spMkLst>
        </pc:spChg>
        <pc:spChg chg="mod">
          <ac:chgData name="Andrea Esposito" userId="af663d4e0f6c8da9" providerId="LiveId" clId="{262502FB-FC54-43DB-AB78-73175A28E98A}" dt="2026-03-25T11:34:29.538" v="3713" actId="1076"/>
          <ac:spMkLst>
            <pc:docMk/>
            <pc:sldMk cId="1134298706" sldId="282"/>
            <ac:spMk id="3" creationId="{9730B24D-B359-8564-AB53-48523D1FE038}"/>
          </ac:spMkLst>
        </pc:spChg>
        <pc:picChg chg="mod modCrop">
          <ac:chgData name="Andrea Esposito" userId="af663d4e0f6c8da9" providerId="LiveId" clId="{262502FB-FC54-43DB-AB78-73175A28E98A}" dt="2026-04-20T13:29:01.422" v="10425" actId="14826"/>
          <ac:picMkLst>
            <pc:docMk/>
            <pc:sldMk cId="1134298706" sldId="282"/>
            <ac:picMk id="5" creationId="{18C5EB5E-FF25-E72D-9CB1-FCD0EF7FE3F3}"/>
          </ac:picMkLst>
        </pc:picChg>
      </pc:sldChg>
      <pc:sldChg chg="modSp mod">
        <pc:chgData name="Andrea Esposito" userId="af663d4e0f6c8da9" providerId="LiveId" clId="{262502FB-FC54-43DB-AB78-73175A28E98A}" dt="2026-04-20T13:29:09.953" v="10426" actId="14826"/>
        <pc:sldMkLst>
          <pc:docMk/>
          <pc:sldMk cId="2485517940" sldId="288"/>
        </pc:sldMkLst>
        <pc:picChg chg="mod">
          <ac:chgData name="Andrea Esposito" userId="af663d4e0f6c8da9" providerId="LiveId" clId="{262502FB-FC54-43DB-AB78-73175A28E98A}" dt="2026-04-20T13:29:09.953" v="10426" actId="14826"/>
          <ac:picMkLst>
            <pc:docMk/>
            <pc:sldMk cId="2485517940" sldId="288"/>
            <ac:picMk id="10" creationId="{08A9A256-706C-A8C7-C2E2-0279C8FE242F}"/>
          </ac:picMkLst>
        </pc:picChg>
      </pc:sldChg>
      <pc:sldChg chg="modSp mod">
        <pc:chgData name="Andrea Esposito" userId="af663d4e0f6c8da9" providerId="LiveId" clId="{262502FB-FC54-43DB-AB78-73175A28E98A}" dt="2026-04-20T13:29:17.300" v="10427" actId="14826"/>
        <pc:sldMkLst>
          <pc:docMk/>
          <pc:sldMk cId="3069440379" sldId="292"/>
        </pc:sldMkLst>
        <pc:picChg chg="mod">
          <ac:chgData name="Andrea Esposito" userId="af663d4e0f6c8da9" providerId="LiveId" clId="{262502FB-FC54-43DB-AB78-73175A28E98A}" dt="2026-04-20T13:29:17.300" v="10427" actId="14826"/>
          <ac:picMkLst>
            <pc:docMk/>
            <pc:sldMk cId="3069440379" sldId="292"/>
            <ac:picMk id="10" creationId="{08A9A256-706C-A8C7-C2E2-0279C8FE242F}"/>
          </ac:picMkLst>
        </pc:picChg>
      </pc:sldChg>
      <pc:sldChg chg="modSp add del mod">
        <pc:chgData name="Andrea Esposito" userId="af663d4e0f6c8da9" providerId="LiveId" clId="{262502FB-FC54-43DB-AB78-73175A28E98A}" dt="2026-04-20T13:27:30.793" v="10382" actId="47"/>
        <pc:sldMkLst>
          <pc:docMk/>
          <pc:sldMk cId="3166441129" sldId="293"/>
        </pc:sldMkLst>
      </pc:sldChg>
      <pc:sldChg chg="modSp add mod">
        <pc:chgData name="Andrea Esposito" userId="af663d4e0f6c8da9" providerId="LiveId" clId="{262502FB-FC54-43DB-AB78-73175A28E98A}" dt="2026-04-20T13:30:03.446" v="10466" actId="14826"/>
        <pc:sldMkLst>
          <pc:docMk/>
          <pc:sldMk cId="3973902408" sldId="293"/>
        </pc:sldMkLst>
        <pc:spChg chg="mod">
          <ac:chgData name="Andrea Esposito" userId="af663d4e0f6c8da9" providerId="LiveId" clId="{262502FB-FC54-43DB-AB78-73175A28E98A}" dt="2026-04-20T13:29:52.952" v="10465" actId="1076"/>
          <ac:spMkLst>
            <pc:docMk/>
            <pc:sldMk cId="3973902408" sldId="293"/>
            <ac:spMk id="2" creationId="{E3CEC0C4-8781-1E0C-EC84-6735254B70DA}"/>
          </ac:spMkLst>
        </pc:spChg>
        <pc:picChg chg="mod">
          <ac:chgData name="Andrea Esposito" userId="af663d4e0f6c8da9" providerId="LiveId" clId="{262502FB-FC54-43DB-AB78-73175A28E98A}" dt="2026-04-20T13:30:03.446" v="10466" actId="14826"/>
          <ac:picMkLst>
            <pc:docMk/>
            <pc:sldMk cId="3973902408" sldId="293"/>
            <ac:picMk id="9" creationId="{53B658BB-E887-3D8C-E997-E3E9DB9EC583}"/>
          </ac:picMkLst>
        </pc:picChg>
      </pc:sldChg>
      <pc:sldChg chg="addSp delSp modSp add del mod">
        <pc:chgData name="Andrea Esposito" userId="af663d4e0f6c8da9" providerId="LiveId" clId="{262502FB-FC54-43DB-AB78-73175A28E98A}" dt="2026-04-20T13:27:31.792" v="10384" actId="47"/>
        <pc:sldMkLst>
          <pc:docMk/>
          <pc:sldMk cId="1732830762" sldId="294"/>
        </pc:sldMkLst>
      </pc:sldChg>
      <pc:sldChg chg="modSp add mod">
        <pc:chgData name="Andrea Esposito" userId="af663d4e0f6c8da9" providerId="LiveId" clId="{262502FB-FC54-43DB-AB78-73175A28E98A}" dt="2026-04-20T15:06:16.338" v="10632" actId="113"/>
        <pc:sldMkLst>
          <pc:docMk/>
          <pc:sldMk cId="3166441129" sldId="294"/>
        </pc:sldMkLst>
        <pc:spChg chg="mod">
          <ac:chgData name="Andrea Esposito" userId="af663d4e0f6c8da9" providerId="LiveId" clId="{262502FB-FC54-43DB-AB78-73175A28E98A}" dt="2026-04-20T15:03:16.491" v="10573" actId="1076"/>
          <ac:spMkLst>
            <pc:docMk/>
            <pc:sldMk cId="3166441129" sldId="294"/>
            <ac:spMk id="2" creationId="{617C8136-7850-538E-9883-B67BE912C6DD}"/>
          </ac:spMkLst>
        </pc:spChg>
        <pc:graphicFrameChg chg="mod modGraphic">
          <ac:chgData name="Andrea Esposito" userId="af663d4e0f6c8da9" providerId="LiveId" clId="{262502FB-FC54-43DB-AB78-73175A28E98A}" dt="2026-04-20T15:06:16.338" v="10632" actId="113"/>
          <ac:graphicFrameMkLst>
            <pc:docMk/>
            <pc:sldMk cId="3166441129" sldId="294"/>
            <ac:graphicFrameMk id="4" creationId="{BAD857C0-E0F1-F1CC-B2D0-DEBF4FD6D95E}"/>
          </ac:graphicFrameMkLst>
        </pc:graphicFrameChg>
      </pc:sldChg>
      <pc:sldChg chg="addSp delSp modSp add mod">
        <pc:chgData name="Andrea Esposito" userId="af663d4e0f6c8da9" providerId="LiveId" clId="{262502FB-FC54-43DB-AB78-73175A28E98A}" dt="2026-04-20T15:13:41.809" v="10699" actId="22"/>
        <pc:sldMkLst>
          <pc:docMk/>
          <pc:sldMk cId="3502108603" sldId="295"/>
        </pc:sldMkLst>
        <pc:spChg chg="mod">
          <ac:chgData name="Andrea Esposito" userId="af663d4e0f6c8da9" providerId="LiveId" clId="{262502FB-FC54-43DB-AB78-73175A28E98A}" dt="2026-04-20T14:55:33.455" v="10494" actId="20577"/>
          <ac:spMkLst>
            <pc:docMk/>
            <pc:sldMk cId="3502108603" sldId="295"/>
            <ac:spMk id="2" creationId="{BFA34427-B7D7-B497-8AD8-72EF28BACA6D}"/>
          </ac:spMkLst>
        </pc:spChg>
        <pc:spChg chg="add mod">
          <ac:chgData name="Andrea Esposito" userId="af663d4e0f6c8da9" providerId="LiveId" clId="{262502FB-FC54-43DB-AB78-73175A28E98A}" dt="2026-04-20T15:06:32.044" v="10634" actId="478"/>
          <ac:spMkLst>
            <pc:docMk/>
            <pc:sldMk cId="3502108603" sldId="295"/>
            <ac:spMk id="6" creationId="{E7E954A7-E70F-5FA9-98CD-E0180B609318}"/>
          </ac:spMkLst>
        </pc:spChg>
        <pc:spChg chg="add del">
          <ac:chgData name="Andrea Esposito" userId="af663d4e0f6c8da9" providerId="LiveId" clId="{262502FB-FC54-43DB-AB78-73175A28E98A}" dt="2026-04-20T15:13:41.809" v="10699" actId="22"/>
          <ac:spMkLst>
            <pc:docMk/>
            <pc:sldMk cId="3502108603" sldId="295"/>
            <ac:spMk id="10" creationId="{33484570-7ADE-7B42-2598-5105AC6540DB}"/>
          </ac:spMkLst>
        </pc:spChg>
        <pc:graphicFrameChg chg="add mod">
          <ac:chgData name="Andrea Esposito" userId="af663d4e0f6c8da9" providerId="LiveId" clId="{262502FB-FC54-43DB-AB78-73175A28E98A}" dt="2026-04-20T15:06:28.693" v="10633"/>
          <ac:graphicFrameMkLst>
            <pc:docMk/>
            <pc:sldMk cId="3502108603" sldId="295"/>
            <ac:graphicFrameMk id="3" creationId="{EC8B580D-8C6C-7D4E-2066-2BA727F09CF4}"/>
          </ac:graphicFrameMkLst>
        </pc:graphicFrameChg>
        <pc:graphicFrameChg chg="del">
          <ac:chgData name="Andrea Esposito" userId="af663d4e0f6c8da9" providerId="LiveId" clId="{262502FB-FC54-43DB-AB78-73175A28E98A}" dt="2026-04-20T15:06:32.044" v="10634" actId="478"/>
          <ac:graphicFrameMkLst>
            <pc:docMk/>
            <pc:sldMk cId="3502108603" sldId="295"/>
            <ac:graphicFrameMk id="4" creationId="{77748BED-8B72-6E05-DE03-619320AAD75A}"/>
          </ac:graphicFrameMkLst>
        </pc:graphicFrameChg>
        <pc:graphicFrameChg chg="add del mod">
          <ac:chgData name="Andrea Esposito" userId="af663d4e0f6c8da9" providerId="LiveId" clId="{262502FB-FC54-43DB-AB78-73175A28E98A}" dt="2026-04-20T15:06:44.878" v="10636" actId="478"/>
          <ac:graphicFrameMkLst>
            <pc:docMk/>
            <pc:sldMk cId="3502108603" sldId="295"/>
            <ac:graphicFrameMk id="7" creationId="{2F0B285D-E772-8C5E-EF0A-8CDD6153C1BE}"/>
          </ac:graphicFrameMkLst>
        </pc:graphicFrameChg>
        <pc:graphicFrameChg chg="add mod modGraphic">
          <ac:chgData name="Andrea Esposito" userId="af663d4e0f6c8da9" providerId="LiveId" clId="{262502FB-FC54-43DB-AB78-73175A28E98A}" dt="2026-04-20T15:13:30.455" v="10697"/>
          <ac:graphicFrameMkLst>
            <pc:docMk/>
            <pc:sldMk cId="3502108603" sldId="295"/>
            <ac:graphicFrameMk id="8" creationId="{BD7EC57A-77CB-7691-97A8-96D93D4DCB2E}"/>
          </ac:graphicFrameMkLst>
        </pc:graphicFrameChg>
      </pc:sldChg>
      <pc:sldChg chg="modSp add mod">
        <pc:chgData name="Andrea Esposito" userId="af663d4e0f6c8da9" providerId="LiveId" clId="{262502FB-FC54-43DB-AB78-73175A28E98A}" dt="2026-04-20T15:29:00.429" v="10855" actId="14734"/>
        <pc:sldMkLst>
          <pc:docMk/>
          <pc:sldMk cId="1628821381" sldId="296"/>
        </pc:sldMkLst>
        <pc:spChg chg="mod">
          <ac:chgData name="Andrea Esposito" userId="af663d4e0f6c8da9" providerId="LiveId" clId="{262502FB-FC54-43DB-AB78-73175A28E98A}" dt="2026-04-20T15:26:53.562" v="10837" actId="1076"/>
          <ac:spMkLst>
            <pc:docMk/>
            <pc:sldMk cId="1628821381" sldId="296"/>
            <ac:spMk id="2" creationId="{0756D2FA-E59E-53FE-29E3-116FD528BA9B}"/>
          </ac:spMkLst>
        </pc:spChg>
        <pc:graphicFrameChg chg="mod modGraphic">
          <ac:chgData name="Andrea Esposito" userId="af663d4e0f6c8da9" providerId="LiveId" clId="{262502FB-FC54-43DB-AB78-73175A28E98A}" dt="2026-04-20T15:29:00.429" v="10855" actId="14734"/>
          <ac:graphicFrameMkLst>
            <pc:docMk/>
            <pc:sldMk cId="1628821381" sldId="296"/>
            <ac:graphicFrameMk id="4" creationId="{BDCD3246-C1A1-4320-7932-F426D37C21D6}"/>
          </ac:graphicFrameMkLst>
        </pc:graphicFrameChg>
      </pc:sldChg>
      <pc:sldChg chg="modSp add mod">
        <pc:chgData name="Andrea Esposito" userId="af663d4e0f6c8da9" providerId="LiveId" clId="{262502FB-FC54-43DB-AB78-73175A28E98A}" dt="2026-04-20T15:35:39.443" v="11120" actId="14734"/>
        <pc:sldMkLst>
          <pc:docMk/>
          <pc:sldMk cId="142119940" sldId="297"/>
        </pc:sldMkLst>
        <pc:spChg chg="mod">
          <ac:chgData name="Andrea Esposito" userId="af663d4e0f6c8da9" providerId="LiveId" clId="{262502FB-FC54-43DB-AB78-73175A28E98A}" dt="2026-04-20T15:35:26.835" v="11118" actId="1076"/>
          <ac:spMkLst>
            <pc:docMk/>
            <pc:sldMk cId="142119940" sldId="297"/>
            <ac:spMk id="2" creationId="{6D92163E-1FE4-E06D-215F-84535B85473E}"/>
          </ac:spMkLst>
        </pc:spChg>
        <pc:graphicFrameChg chg="mod modGraphic">
          <ac:chgData name="Andrea Esposito" userId="af663d4e0f6c8da9" providerId="LiveId" clId="{262502FB-FC54-43DB-AB78-73175A28E98A}" dt="2026-04-20T15:35:39.443" v="11120" actId="14734"/>
          <ac:graphicFrameMkLst>
            <pc:docMk/>
            <pc:sldMk cId="142119940" sldId="297"/>
            <ac:graphicFrameMk id="4" creationId="{6F16AE86-EDE1-C0A8-8E64-9409A17DB1B4}"/>
          </ac:graphicFrameMkLst>
        </pc:graphicFrameChg>
      </pc:sldChg>
      <pc:sldChg chg="modSp add mod">
        <pc:chgData name="Andrea Esposito" userId="af663d4e0f6c8da9" providerId="LiveId" clId="{262502FB-FC54-43DB-AB78-73175A28E98A}" dt="2026-04-20T15:41:25.315" v="11170" actId="14734"/>
        <pc:sldMkLst>
          <pc:docMk/>
          <pc:sldMk cId="2917781208" sldId="298"/>
        </pc:sldMkLst>
        <pc:spChg chg="mod">
          <ac:chgData name="Andrea Esposito" userId="af663d4e0f6c8da9" providerId="LiveId" clId="{262502FB-FC54-43DB-AB78-73175A28E98A}" dt="2026-04-20T15:35:11.277" v="11116" actId="1076"/>
          <ac:spMkLst>
            <pc:docMk/>
            <pc:sldMk cId="2917781208" sldId="298"/>
            <ac:spMk id="2" creationId="{59074E40-F48A-B6FC-6E18-CFA507EE607B}"/>
          </ac:spMkLst>
        </pc:spChg>
        <pc:graphicFrameChg chg="mod modGraphic">
          <ac:chgData name="Andrea Esposito" userId="af663d4e0f6c8da9" providerId="LiveId" clId="{262502FB-FC54-43DB-AB78-73175A28E98A}" dt="2026-04-20T15:41:25.315" v="11170" actId="14734"/>
          <ac:graphicFrameMkLst>
            <pc:docMk/>
            <pc:sldMk cId="2917781208" sldId="298"/>
            <ac:graphicFrameMk id="4" creationId="{5CF9969C-6F90-D94F-F1EF-C618C23D3DB1}"/>
          </ac:graphicFrameMkLst>
        </pc:graphicFrameChg>
      </pc:sldChg>
      <pc:sldChg chg="modSp add mod">
        <pc:chgData name="Andrea Esposito" userId="af663d4e0f6c8da9" providerId="LiveId" clId="{262502FB-FC54-43DB-AB78-73175A28E98A}" dt="2026-04-20T15:43:36.117" v="11171" actId="14734"/>
        <pc:sldMkLst>
          <pc:docMk/>
          <pc:sldMk cId="3890071461" sldId="299"/>
        </pc:sldMkLst>
        <pc:spChg chg="mod">
          <ac:chgData name="Andrea Esposito" userId="af663d4e0f6c8da9" providerId="LiveId" clId="{262502FB-FC54-43DB-AB78-73175A28E98A}" dt="2026-04-20T15:17:46.385" v="10717" actId="20577"/>
          <ac:spMkLst>
            <pc:docMk/>
            <pc:sldMk cId="3890071461" sldId="299"/>
            <ac:spMk id="2" creationId="{17382A86-66DA-9690-E651-C27581367928}"/>
          </ac:spMkLst>
        </pc:spChg>
        <pc:graphicFrameChg chg="mod modGraphic">
          <ac:chgData name="Andrea Esposito" userId="af663d4e0f6c8da9" providerId="LiveId" clId="{262502FB-FC54-43DB-AB78-73175A28E98A}" dt="2026-04-20T15:43:36.117" v="11171" actId="14734"/>
          <ac:graphicFrameMkLst>
            <pc:docMk/>
            <pc:sldMk cId="3890071461" sldId="299"/>
            <ac:graphicFrameMk id="8" creationId="{D2B09CBE-3B6A-9CD6-B83A-9CE8AFF28815}"/>
          </ac:graphicFrameMkLst>
        </pc:graphicFrameChg>
      </pc:sldChg>
      <pc:sldChg chg="addSp delSp modSp new del mod setBg">
        <pc:chgData name="Andrea Esposito" userId="af663d4e0f6c8da9" providerId="LiveId" clId="{262502FB-FC54-43DB-AB78-73175A28E98A}" dt="2026-04-20T13:27:31.421" v="10383" actId="47"/>
        <pc:sldMkLst>
          <pc:docMk/>
          <pc:sldMk cId="2632233888" sldId="304"/>
        </pc:sldMkLst>
      </pc:sldChg>
      <pc:sldChg chg="addSp delSp modSp new del mod setBg">
        <pc:chgData name="Andrea Esposito" userId="af663d4e0f6c8da9" providerId="LiveId" clId="{262502FB-FC54-43DB-AB78-73175A28E98A}" dt="2026-04-20T13:27:32.281" v="10385" actId="47"/>
        <pc:sldMkLst>
          <pc:docMk/>
          <pc:sldMk cId="1270572289"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20/04/2026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6"/>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4/20/2026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fontScale="90000"/>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(ES.5 </a:t>
            </a:r>
            <a:r>
              <a:rPr lang="it-IT" sz="8000">
                <a:solidFill>
                  <a:srgbClr val="FFFFFF"/>
                </a:solidFill>
              </a:rPr>
              <a:t>+ Distribuzione es4)</a:t>
            </a:r>
            <a:endParaRPr lang="it-IT" sz="8000" dirty="0">
              <a:solidFill>
                <a:srgbClr val="FFFFFF"/>
              </a:solidFill>
            </a:endParaRP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(20/04/2026)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D121-F1C6-C6D9-1684-FA1ED6E0EC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7C8136-7850-538E-9883-B67BE912C6DD}"/>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dynamic_failure</a:t>
            </a:r>
            <a:r>
              <a:rPr lang="it-IT" sz="2400" dirty="0"/>
              <a:t>):</a:t>
            </a:r>
          </a:p>
        </p:txBody>
      </p:sp>
      <p:graphicFrame>
        <p:nvGraphicFramePr>
          <p:cNvPr id="4" name="Segnaposto contenuto 3">
            <a:extLst>
              <a:ext uri="{FF2B5EF4-FFF2-40B4-BE49-F238E27FC236}">
                <a16:creationId xmlns:a16="http://schemas.microsoft.com/office/drawing/2014/main" id="{BAD857C0-E0F1-F1CC-B2D0-DEBF4FD6D95E}"/>
              </a:ext>
            </a:extLst>
          </p:cNvPr>
          <p:cNvGraphicFramePr>
            <a:graphicFrameLocks noGrp="1"/>
          </p:cNvGraphicFramePr>
          <p:nvPr>
            <p:ph idx="1"/>
            <p:extLst>
              <p:ext uri="{D42A27DB-BD31-4B8C-83A1-F6EECF244321}">
                <p14:modId xmlns:p14="http://schemas.microsoft.com/office/powerpoint/2010/main" val="2741421854"/>
              </p:ext>
            </p:extLst>
          </p:nvPr>
        </p:nvGraphicFramePr>
        <p:xfrm>
          <a:off x="117986" y="476373"/>
          <a:ext cx="11916698" cy="642366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26142">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814275">
                  <a:extLst>
                    <a:ext uri="{9D8B030D-6E8A-4147-A177-3AD203B41FA5}">
                      <a16:colId xmlns:a16="http://schemas.microsoft.com/office/drawing/2014/main" val="3564228665"/>
                    </a:ext>
                  </a:extLst>
                </a:gridCol>
                <a:gridCol w="432619">
                  <a:extLst>
                    <a:ext uri="{9D8B030D-6E8A-4147-A177-3AD203B41FA5}">
                      <a16:colId xmlns:a16="http://schemas.microsoft.com/office/drawing/2014/main" val="1079194908"/>
                    </a:ext>
                  </a:extLst>
                </a:gridCol>
                <a:gridCol w="1376516">
                  <a:extLst>
                    <a:ext uri="{9D8B030D-6E8A-4147-A177-3AD203B41FA5}">
                      <a16:colId xmlns:a16="http://schemas.microsoft.com/office/drawing/2014/main" val="457757330"/>
                    </a:ext>
                  </a:extLst>
                </a:gridCol>
                <a:gridCol w="393291">
                  <a:extLst>
                    <a:ext uri="{9D8B030D-6E8A-4147-A177-3AD203B41FA5}">
                      <a16:colId xmlns:a16="http://schemas.microsoft.com/office/drawing/2014/main" val="75598170"/>
                    </a:ext>
                  </a:extLst>
                </a:gridCol>
                <a:gridCol w="1170038">
                  <a:extLst>
                    <a:ext uri="{9D8B030D-6E8A-4147-A177-3AD203B41FA5}">
                      <a16:colId xmlns:a16="http://schemas.microsoft.com/office/drawing/2014/main" val="963411808"/>
                    </a:ext>
                  </a:extLst>
                </a:gridCol>
                <a:gridCol w="501446">
                  <a:extLst>
                    <a:ext uri="{9D8B030D-6E8A-4147-A177-3AD203B41FA5}">
                      <a16:colId xmlns:a16="http://schemas.microsoft.com/office/drawing/2014/main" val="27591704"/>
                    </a:ext>
                  </a:extLst>
                </a:gridCol>
                <a:gridCol w="1406013">
                  <a:extLst>
                    <a:ext uri="{9D8B030D-6E8A-4147-A177-3AD203B41FA5}">
                      <a16:colId xmlns:a16="http://schemas.microsoft.com/office/drawing/2014/main" val="228824343"/>
                    </a:ext>
                  </a:extLst>
                </a:gridCol>
                <a:gridCol w="1209367">
                  <a:extLst>
                    <a:ext uri="{9D8B030D-6E8A-4147-A177-3AD203B41FA5}">
                      <a16:colId xmlns:a16="http://schemas.microsoft.com/office/drawing/2014/main" val="2134066566"/>
                    </a:ext>
                  </a:extLst>
                </a:gridCol>
                <a:gridCol w="1622323">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prezi0sa03</a:t>
                      </a:r>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ad75d4997439208955f5fd1ab745aa3ab72ebeb5</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multithreadL'esercizio</a:t>
                      </a:r>
                      <a:r>
                        <a:rPr lang="it-IT" sz="1050" dirty="0"/>
                        <a:t> non è ancora stato svolto </a:t>
                      </a:r>
                      <a:r>
                        <a:rPr lang="it-IT" sz="1050" dirty="0" err="1"/>
                        <a:t>correttamente.L'esecuzione</a:t>
                      </a:r>
                      <a:r>
                        <a:rPr lang="it-IT" sz="1050" dirty="0"/>
                        <a:t> non è corretta: Il valore del messaggio di risposta non corrisponde agli operandi del messaggio di richiesta.</a:t>
                      </a:r>
                    </a:p>
                  </a:txBody>
                  <a:tcPr/>
                </a:tc>
                <a:tc>
                  <a:txBody>
                    <a:bodyPr/>
                    <a:lstStyle/>
                    <a:p>
                      <a:pPr algn="l"/>
                      <a:r>
                        <a:rPr lang="it-IT" sz="1050" dirty="0"/>
                        <a:t>Richiesta 0 Inviata (78, 83) [PID=2395505]\n\</a:t>
                      </a:r>
                      <a:r>
                        <a:rPr lang="it-IT" sz="1050" dirty="0" err="1"/>
                        <a:t>nRisposta</a:t>
                      </a:r>
                      <a:r>
                        <a:rPr lang="it-IT" sz="1050" dirty="0"/>
                        <a:t> 0 Ricevuta (78) [PID=2395505] CONTINUA)…</a:t>
                      </a:r>
                    </a:p>
                  </a:txBody>
                  <a:tcPr/>
                </a:tc>
                <a:tc>
                  <a:txBody>
                    <a:bodyPr/>
                    <a:lstStyle/>
                    <a:p>
                      <a:pPr algn="l"/>
                      <a:r>
                        <a:rPr lang="it-IT" sz="1050" dirty="0"/>
                        <a:t> { "file":"</a:t>
                      </a:r>
                      <a:r>
                        <a:rPr lang="it-IT" sz="1050" dirty="0" err="1"/>
                        <a:t>Client.c</a:t>
                      </a:r>
                      <a:r>
                        <a:rPr lang="it-IT" sz="1050" dirty="0"/>
                        <a:t>",                "line": 64,                "</a:t>
                      </a:r>
                      <a:r>
                        <a:rPr lang="it-IT" sz="1050" dirty="0" err="1"/>
                        <a:t>message</a:t>
                      </a:r>
                      <a:r>
                        <a:rPr lang="it-IT" sz="1050" dirty="0"/>
                        <a:t>": «E’ richiesto che il client effettui una </a:t>
                      </a:r>
                      <a:r>
                        <a:rPr lang="it-IT" sz="1050" dirty="0" err="1"/>
                        <a:t>receive</a:t>
                      </a:r>
                      <a:r>
                        <a:rPr lang="it-IT" sz="1050" dirty="0"/>
                        <a:t> selettiva, utilizzando il PID nel campo tipo dei messaggi di risposta."            },            {"file": "</a:t>
                      </a:r>
                      <a:r>
                        <a:rPr lang="it-IT" sz="1050" dirty="0" err="1"/>
                        <a:t>Server.c</a:t>
                      </a:r>
                      <a:r>
                        <a:rPr lang="it-IT" sz="1050" dirty="0"/>
                        <a:t>",                "line": 45,                "</a:t>
                      </a:r>
                      <a:r>
                        <a:rPr lang="it-IT" sz="1050" dirty="0" err="1"/>
                        <a:t>message</a:t>
                      </a:r>
                      <a:r>
                        <a:rPr lang="it-IT" sz="1050" dirty="0"/>
                        <a:t>": «E’ richiesto che il </a:t>
                      </a:r>
                      <a:r>
                        <a:rPr lang="it-IT" sz="1050" dirty="0" err="1"/>
                        <a:t>mutex</a:t>
                      </a:r>
                      <a:r>
                        <a:rPr lang="it-IT" sz="1050" dirty="0"/>
                        <a:t> sia definito e inizializzato fuori dal ciclo </a:t>
                      </a:r>
                      <a:r>
                        <a:rPr lang="it-IT" sz="1050" dirty="0" err="1"/>
                        <a:t>while</a:t>
                      </a:r>
                      <a:r>
                        <a:rPr lang="it-IT" sz="1050" dirty="0"/>
                        <a:t>(1){...} del server. Si suggerisce di dichiarare una variabile globale di tipo </a:t>
                      </a:r>
                      <a:r>
                        <a:rPr lang="it-IT" sz="1050" dirty="0" err="1"/>
                        <a:t>pthread_mutex_t</a:t>
                      </a:r>
                      <a:r>
                        <a:rPr lang="it-IT" sz="1050" dirty="0"/>
                        <a:t>, e di inizializzarla subito prima del ciclo tramite </a:t>
                      </a:r>
                      <a:r>
                        <a:rPr lang="it-IT" sz="1050" dirty="0" err="1"/>
                        <a:t>pthread_mutex_init</a:t>
                      </a:r>
                      <a:r>
                        <a:rPr lang="it-IT" sz="1050" dirty="0"/>
                        <a:t>()." }</a:t>
                      </a:r>
                    </a:p>
                  </a:txBody>
                  <a:tcPr/>
                </a:tc>
                <a:tc>
                  <a:txBody>
                    <a:bodyPr/>
                    <a:lstStyle/>
                    <a:p>
                      <a:pPr algn="l"/>
                      <a:r>
                        <a:rPr lang="it-IT" sz="1050" b="1" dirty="0"/>
                        <a:t>NO</a:t>
                      </a:r>
                    </a:p>
                  </a:txBody>
                  <a:tcPr/>
                </a:tc>
                <a:tc>
                  <a:txBody>
                    <a:bodyPr/>
                    <a:lstStyle/>
                    <a:p>
                      <a:pPr algn="l"/>
                      <a:r>
                        <a:rPr lang="en-US" sz="1050" dirty="0"/>
                        <a:t>The responses do not match the expected protocol semantics. Each response should return the product of the two integers sent in the corresponding request, but the responses consistently return only the first integer of the pair. This is a visible mismatch in the request/reply protocol and violates the exercise's requirement for the server to compute and return the product.</a:t>
                      </a:r>
                      <a:endParaRPr lang="it-IT" sz="1050" dirty="0"/>
                    </a:p>
                  </a:txBody>
                  <a:tcPr/>
                </a:tc>
                <a:tc>
                  <a:txBody>
                    <a:bodyPr/>
                    <a:lstStyle/>
                    <a:p>
                      <a:pPr algn="l"/>
                      <a:r>
                        <a:rPr lang="it-IT" sz="1050" b="1" dirty="0"/>
                        <a:t>NO</a:t>
                      </a:r>
                    </a:p>
                  </a:txBody>
                  <a:tcPr/>
                </a:tc>
                <a:tc>
                  <a:txBody>
                    <a:bodyPr/>
                    <a:lstStyle/>
                    <a:p>
                      <a:pPr algn="l"/>
                      <a:r>
                        <a:rPr lang="en-US" sz="1050" dirty="0"/>
                        <a:t>In FILE: </a:t>
                      </a:r>
                      <a:r>
                        <a:rPr lang="en-US" sz="1050" dirty="0" err="1"/>
                        <a:t>Client.c</a:t>
                      </a:r>
                      <a:r>
                        <a:rPr lang="en-US" sz="1050" dirty="0"/>
                        <a:t>, the </a:t>
                      </a:r>
                      <a:r>
                        <a:rPr lang="en-US" sz="1050" dirty="0" err="1"/>
                        <a:t>msgrcv</a:t>
                      </a:r>
                      <a:r>
                        <a:rPr lang="en-US" sz="1050" dirty="0"/>
                        <a:t> call at line 45 does not specify the </a:t>
                      </a:r>
                      <a:r>
                        <a:rPr lang="en-US" sz="1050" dirty="0" err="1"/>
                        <a:t>msgtyp</a:t>
                      </a:r>
                      <a:r>
                        <a:rPr lang="en-US" sz="1050" dirty="0"/>
                        <a:t> parameter to filter messages by the client's PID. This violates the protocol requirement that clients must receive responses specific to their PID. Without this filter, a client may incorrectly receive a response intended for another client, leading to protocol mismatches. The correct usage should include the PID as the </a:t>
                      </a:r>
                      <a:r>
                        <a:rPr lang="en-US" sz="1050" dirty="0" err="1"/>
                        <a:t>msgtyp</a:t>
                      </a:r>
                      <a:r>
                        <a:rPr lang="en-US" sz="1050" dirty="0"/>
                        <a:t> parameter to ensure proper message association.</a:t>
                      </a:r>
                      <a:endParaRPr lang="it-IT" sz="1050" dirty="0"/>
                    </a:p>
                  </a:txBody>
                  <a:tcPr/>
                </a:tc>
                <a:tc>
                  <a:txBody>
                    <a:bodyPr/>
                    <a:lstStyle/>
                    <a:p>
                      <a:pPr algn="l"/>
                      <a:r>
                        <a:rPr lang="it-IT" sz="1050" b="1" dirty="0"/>
                        <a:t>YES</a:t>
                      </a:r>
                      <a:r>
                        <a:rPr lang="it-IT" sz="1050" dirty="0"/>
                        <a:t>, </a:t>
                      </a:r>
                      <a:r>
                        <a:rPr lang="en-US" sz="1050" dirty="0"/>
                        <a:t>The diagnosis correctly identifies that the responses do not match the expected values derived from the request, which aligns with the ground truth stating that the response values do not correspond to the request operands. The diagnosis provides a more detailed explanation of the mismatch but remains semantically aligned with the ground truth failure category.</a:t>
                      </a:r>
                      <a:endParaRPr lang="it-IT" sz="1050" dirty="0"/>
                    </a:p>
                  </a:txBody>
                  <a:tcPr/>
                </a:tc>
                <a:tc>
                  <a:txBody>
                    <a:bodyPr/>
                    <a:lstStyle/>
                    <a:p>
                      <a:pPr algn="l"/>
                      <a:r>
                        <a:rPr lang="it-IT" sz="1050" b="1" dirty="0"/>
                        <a:t>YES</a:t>
                      </a:r>
                      <a:r>
                        <a:rPr lang="it-IT" sz="1050" dirty="0"/>
                        <a:t>, </a:t>
                      </a:r>
                      <a:r>
                        <a:rPr lang="en-US" sz="1050" dirty="0"/>
                        <a:t>The diagnosis correctly identifies the same defect mechanism as the ground truth warning in Client.c:64. Both point out the need for selective message reception using the PID in the </a:t>
                      </a:r>
                      <a:r>
                        <a:rPr lang="en-US" sz="1050" dirty="0" err="1"/>
                        <a:t>msgtyp</a:t>
                      </a:r>
                      <a:r>
                        <a:rPr lang="en-US" sz="1050" dirty="0"/>
                        <a:t> parameter to comply with the protocol. The diagnosis provides a detailed explanation of the issue and its consequences, which aligns with the ground truth's requirement for selective receive. The </a:t>
                      </a:r>
                      <a:r>
                        <a:rPr lang="en-US" sz="1050" dirty="0" err="1"/>
                        <a:t>Server.c</a:t>
                      </a:r>
                      <a:r>
                        <a:rPr lang="en-US" sz="1050" dirty="0"/>
                        <a:t> warning is unrelated to the diagnosis and does not affect its correctness.</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16644112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58E65-FFFD-3B17-2CC7-767D120258E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FA34427-B7D7-B497-8AD8-72EF28BACA6D}"/>
              </a:ext>
            </a:extLst>
          </p:cNvPr>
          <p:cNvSpPr>
            <a:spLocks noGrp="1"/>
          </p:cNvSpPr>
          <p:nvPr>
            <p:ph type="title"/>
          </p:nvPr>
        </p:nvSpPr>
        <p:spPr>
          <a:xfrm>
            <a:off x="117986" y="86324"/>
            <a:ext cx="11572567" cy="1016072"/>
          </a:xfrm>
        </p:spPr>
        <p:txBody>
          <a:bodyPr/>
          <a:lstStyle/>
          <a:p>
            <a:r>
              <a:rPr lang="it-IT" sz="2400" dirty="0"/>
              <a:t>Esempio di risultato (</a:t>
            </a:r>
            <a:r>
              <a:rPr lang="it-IT" sz="2400" dirty="0" err="1"/>
              <a:t>timeout</a:t>
            </a:r>
            <a:r>
              <a:rPr lang="it-IT" sz="2400" dirty="0"/>
              <a:t>):</a:t>
            </a:r>
          </a:p>
        </p:txBody>
      </p:sp>
      <p:sp>
        <p:nvSpPr>
          <p:cNvPr id="6" name="Segnaposto contenuto 5">
            <a:extLst>
              <a:ext uri="{FF2B5EF4-FFF2-40B4-BE49-F238E27FC236}">
                <a16:creationId xmlns:a16="http://schemas.microsoft.com/office/drawing/2014/main" id="{E7E954A7-E70F-5FA9-98CD-E0180B609318}"/>
              </a:ext>
            </a:extLst>
          </p:cNvPr>
          <p:cNvSpPr>
            <a:spLocks noGrp="1"/>
          </p:cNvSpPr>
          <p:nvPr>
            <p:ph idx="1"/>
          </p:nvPr>
        </p:nvSpPr>
        <p:spPr/>
        <p:txBody>
          <a:bodyPr/>
          <a:lstStyle/>
          <a:p>
            <a:endParaRPr lang="it-IT"/>
          </a:p>
        </p:txBody>
      </p:sp>
      <p:graphicFrame>
        <p:nvGraphicFramePr>
          <p:cNvPr id="8" name="Segnaposto contenuto 3">
            <a:extLst>
              <a:ext uri="{FF2B5EF4-FFF2-40B4-BE49-F238E27FC236}">
                <a16:creationId xmlns:a16="http://schemas.microsoft.com/office/drawing/2014/main" id="{BD7EC57A-77CB-7691-97A8-96D93D4DCB2E}"/>
              </a:ext>
            </a:extLst>
          </p:cNvPr>
          <p:cNvGraphicFramePr>
            <a:graphicFrameLocks/>
          </p:cNvGraphicFramePr>
          <p:nvPr>
            <p:extLst>
              <p:ext uri="{D42A27DB-BD31-4B8C-83A1-F6EECF244321}">
                <p14:modId xmlns:p14="http://schemas.microsoft.com/office/powerpoint/2010/main" val="2317073680"/>
              </p:ext>
            </p:extLst>
          </p:nvPr>
        </p:nvGraphicFramePr>
        <p:xfrm>
          <a:off x="117986" y="476373"/>
          <a:ext cx="11916698" cy="642366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26142">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814275">
                  <a:extLst>
                    <a:ext uri="{9D8B030D-6E8A-4147-A177-3AD203B41FA5}">
                      <a16:colId xmlns:a16="http://schemas.microsoft.com/office/drawing/2014/main" val="3564228665"/>
                    </a:ext>
                  </a:extLst>
                </a:gridCol>
                <a:gridCol w="580103">
                  <a:extLst>
                    <a:ext uri="{9D8B030D-6E8A-4147-A177-3AD203B41FA5}">
                      <a16:colId xmlns:a16="http://schemas.microsoft.com/office/drawing/2014/main" val="1079194908"/>
                    </a:ext>
                  </a:extLst>
                </a:gridCol>
                <a:gridCol w="816078">
                  <a:extLst>
                    <a:ext uri="{9D8B030D-6E8A-4147-A177-3AD203B41FA5}">
                      <a16:colId xmlns:a16="http://schemas.microsoft.com/office/drawing/2014/main" val="457757330"/>
                    </a:ext>
                  </a:extLst>
                </a:gridCol>
                <a:gridCol w="373625">
                  <a:extLst>
                    <a:ext uri="{9D8B030D-6E8A-4147-A177-3AD203B41FA5}">
                      <a16:colId xmlns:a16="http://schemas.microsoft.com/office/drawing/2014/main" val="75598170"/>
                    </a:ext>
                  </a:extLst>
                </a:gridCol>
                <a:gridCol w="1710813">
                  <a:extLst>
                    <a:ext uri="{9D8B030D-6E8A-4147-A177-3AD203B41FA5}">
                      <a16:colId xmlns:a16="http://schemas.microsoft.com/office/drawing/2014/main" val="963411808"/>
                    </a:ext>
                  </a:extLst>
                </a:gridCol>
                <a:gridCol w="393291">
                  <a:extLst>
                    <a:ext uri="{9D8B030D-6E8A-4147-A177-3AD203B41FA5}">
                      <a16:colId xmlns:a16="http://schemas.microsoft.com/office/drawing/2014/main" val="27591704"/>
                    </a:ext>
                  </a:extLst>
                </a:gridCol>
                <a:gridCol w="1406013">
                  <a:extLst>
                    <a:ext uri="{9D8B030D-6E8A-4147-A177-3AD203B41FA5}">
                      <a16:colId xmlns:a16="http://schemas.microsoft.com/office/drawing/2014/main" val="228824343"/>
                    </a:ext>
                  </a:extLst>
                </a:gridCol>
                <a:gridCol w="1209367">
                  <a:extLst>
                    <a:ext uri="{9D8B030D-6E8A-4147-A177-3AD203B41FA5}">
                      <a16:colId xmlns:a16="http://schemas.microsoft.com/office/drawing/2014/main" val="2134066566"/>
                    </a:ext>
                  </a:extLst>
                </a:gridCol>
                <a:gridCol w="1622323">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valeannu</a:t>
                      </a:r>
                      <a:endParaRPr lang="it-IT" sz="1050" dirty="0"/>
                    </a:p>
                  </a:txBody>
                  <a:tcPr/>
                </a:tc>
                <a:tc>
                  <a:txBody>
                    <a:bodyPr/>
                    <a:lstStyle/>
                    <a:p>
                      <a:pPr algn="l"/>
                      <a:r>
                        <a:rPr lang="it-IT" sz="1050" dirty="0" err="1"/>
                        <a:t>remote_procedure_call</a:t>
                      </a:r>
                      <a:endParaRPr lang="it-IT" sz="1050" dirty="0"/>
                    </a:p>
                  </a:txBody>
                  <a:tcPr/>
                </a:tc>
                <a:tc>
                  <a:txBody>
                    <a:bodyPr/>
                    <a:lstStyle/>
                    <a:p>
                      <a:pPr algn="l"/>
                      <a:r>
                        <a:rPr lang="it-IT" sz="1050" dirty="0"/>
                        <a:t>949114e9b82feb9838ca9efe9310937f4798557d</a:t>
                      </a:r>
                    </a:p>
                  </a:txBody>
                  <a:tcPr/>
                </a:tc>
                <a:tc>
                  <a:txBody>
                    <a:bodyPr/>
                    <a:lstStyle/>
                    <a:p>
                      <a:pPr algn="l"/>
                      <a:r>
                        <a:rPr lang="it-IT" sz="1050" dirty="0" err="1"/>
                        <a:t>timeout</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 Esercizio remote procedure call. L'esercizio non è ancora stato svolto correttamente. L'esecuzione del programma è andata in </a:t>
                      </a:r>
                      <a:r>
                        <a:rPr lang="it-IT" sz="1050" dirty="0" err="1"/>
                        <a:t>timeout</a:t>
                      </a:r>
                      <a:endParaRPr lang="it-IT" sz="1050" dirty="0"/>
                    </a:p>
                  </a:txBody>
                  <a:tcPr/>
                </a:tc>
                <a:tc>
                  <a:txBody>
                    <a:bodyPr/>
                    <a:lstStyle/>
                    <a:p>
                      <a:pPr algn="l"/>
                      <a:r>
                        <a:rPr lang="it-IT" sz="1050" dirty="0"/>
                        <a:t>(CONTINUA)…Errore, tipo di richiesta </a:t>
                      </a:r>
                      <a:r>
                        <a:rPr lang="it-IT" sz="1050" dirty="0" err="1"/>
                        <a:t>sconosciutatimeout</a:t>
                      </a:r>
                      <a:r>
                        <a:rPr lang="it-IT" sz="1050" dirty="0"/>
                        <a:t>: </a:t>
                      </a:r>
                      <a:r>
                        <a:rPr lang="it-IT" sz="1050" dirty="0" err="1"/>
                        <a:t>sending</a:t>
                      </a:r>
                      <a:r>
                        <a:rPr lang="it-IT" sz="1050" dirty="0"/>
                        <a:t> </a:t>
                      </a:r>
                      <a:r>
                        <a:rPr lang="it-IT" sz="1050" dirty="0" err="1"/>
                        <a:t>signal</a:t>
                      </a:r>
                      <a:r>
                        <a:rPr lang="it-IT" sz="1050" dirty="0"/>
                        <a:t> TERM to </a:t>
                      </a:r>
                      <a:r>
                        <a:rPr lang="it-IT" sz="1050" dirty="0" err="1"/>
                        <a:t>command</a:t>
                      </a:r>
                      <a:r>
                        <a:rPr lang="it-IT" sz="1050" dirty="0"/>
                        <a:t> ‘./start’</a:t>
                      </a:r>
                    </a:p>
                  </a:txBody>
                  <a:tcPr/>
                </a:tc>
                <a:tc>
                  <a:txBody>
                    <a:bodyPr/>
                    <a:lstStyle/>
                    <a:p>
                      <a:pPr algn="l"/>
                      <a:r>
                        <a:rPr lang="it-IT" sz="1050" dirty="0"/>
                        <a:t> {</a:t>
                      </a:r>
                    </a:p>
                    <a:p>
                      <a:pPr algn="l"/>
                      <a:r>
                        <a:rPr lang="it-IT" sz="1050" dirty="0"/>
                        <a:t>"file": "</a:t>
                      </a:r>
                      <a:r>
                        <a:rPr lang="it-IT" sz="1050" dirty="0" err="1"/>
                        <a:t>server.c</a:t>
                      </a:r>
                      <a:r>
                        <a:rPr lang="it-IT" sz="1050" dirty="0"/>
                        <a:t>",                "line": 71,                "</a:t>
                      </a:r>
                      <a:r>
                        <a:rPr lang="it-IT" sz="1050" dirty="0" err="1"/>
                        <a:t>message</a:t>
                      </a:r>
                      <a:r>
                        <a:rPr lang="it-IT" sz="1050" dirty="0"/>
                        <a:t>": «E’ richiesto che la struttura dati con i parametri del </a:t>
                      </a:r>
                      <a:r>
                        <a:rPr lang="it-IT" sz="1050" dirty="0" err="1"/>
                        <a:t>thread</a:t>
                      </a:r>
                      <a:r>
                        <a:rPr lang="it-IT" sz="1050" dirty="0"/>
                        <a:t> worker venga deallocata dallo heap, utilizzando free()."            }</a:t>
                      </a:r>
                    </a:p>
                  </a:txBody>
                  <a:tcPr/>
                </a:tc>
                <a:tc>
                  <a:txBody>
                    <a:bodyPr/>
                    <a:lstStyle/>
                    <a:p>
                      <a:pPr algn="l"/>
                      <a:r>
                        <a:rPr lang="it-IT" sz="1050" b="1" dirty="0"/>
                        <a:t>NO</a:t>
                      </a:r>
                    </a:p>
                  </a:txBody>
                  <a:tcPr/>
                </a:tc>
                <a:tc>
                  <a:txBody>
                    <a:bodyPr/>
                    <a:lstStyle/>
                    <a:p>
                      <a:pPr algn="l"/>
                      <a:r>
                        <a:rPr lang="en-US" sz="1050" dirty="0"/>
                        <a:t>The output shows a timeout at the end, indicating incomplete execution. Additionally, there is a visible error \"</a:t>
                      </a:r>
                      <a:r>
                        <a:rPr lang="en-US" sz="1050" dirty="0" err="1"/>
                        <a:t>Errore</a:t>
                      </a:r>
                      <a:r>
                        <a:rPr lang="en-US" sz="1050" dirty="0"/>
                        <a:t> </a:t>
                      </a:r>
                      <a:r>
                        <a:rPr lang="en-US" sz="1050" dirty="0" err="1"/>
                        <a:t>msgsnd</a:t>
                      </a:r>
                      <a:r>
                        <a:rPr lang="en-US" sz="1050" dirty="0"/>
                        <a:t>: Invalid argument,\" suggesting a failure in message sending. The trace also shows an unknown request type error and inconsistent operation counts: the expected 3 </a:t>
                      </a:r>
                      <a:r>
                        <a:rPr lang="en-US" sz="1050" dirty="0" err="1"/>
                        <a:t>produci</a:t>
                      </a:r>
                      <a:r>
                        <a:rPr lang="en-US" sz="1050" dirty="0"/>
                        <a:t> and 3 </a:t>
                      </a:r>
                      <a:r>
                        <a:rPr lang="en-US" sz="1050" dirty="0" err="1"/>
                        <a:t>consuma</a:t>
                      </a:r>
                      <a:r>
                        <a:rPr lang="en-US" sz="1050" dirty="0"/>
                        <a:t> operations are not fully visible. The immediate reply for PRODUCI CON SOMMA returns 0, which contradicts the expected sum result. These issues indicate protocol violations, incomplete pairing, and incorrect values.</a:t>
                      </a:r>
                      <a:endParaRPr lang="it-IT" sz="1050" dirty="0"/>
                    </a:p>
                  </a:txBody>
                  <a:tcPr/>
                </a:tc>
                <a:tc>
                  <a:txBody>
                    <a:bodyPr/>
                    <a:lstStyle/>
                    <a:p>
                      <a:pPr algn="l"/>
                      <a:r>
                        <a:rPr lang="it-IT" sz="1050" b="1" dirty="0"/>
                        <a:t>NO</a:t>
                      </a:r>
                    </a:p>
                  </a:txBody>
                  <a:tcPr/>
                </a:tc>
                <a:tc>
                  <a:txBody>
                    <a:bodyPr/>
                    <a:lstStyle/>
                    <a:p>
                      <a:pPr algn="l"/>
                      <a:r>
                        <a:rPr lang="en-US" sz="1050" dirty="0"/>
                        <a:t>In FILE: </a:t>
                      </a:r>
                      <a:r>
                        <a:rPr lang="en-US" sz="1050" dirty="0" err="1"/>
                        <a:t>server.c</a:t>
                      </a:r>
                      <a:r>
                        <a:rPr lang="en-US" sz="1050" dirty="0"/>
                        <a:t>, the </a:t>
                      </a:r>
                      <a:r>
                        <a:rPr lang="en-US" sz="1050" dirty="0" err="1"/>
                        <a:t>pthread_create</a:t>
                      </a:r>
                      <a:r>
                        <a:rPr lang="en-US" sz="1050" dirty="0"/>
                        <a:t> call at line 61 incorrectly frees the struct param pointer p immediately after creating the thread. This causes a lifetime issue because the worker thread may still access the freed memory, leading to undefined behavior. The struct param should remain valid for the duration of the thread's execution. The premature free(p) violates the ownership/lifetime invariant for thread arguments.</a:t>
                      </a:r>
                      <a:endParaRPr lang="it-IT" sz="1050" dirty="0"/>
                    </a:p>
                  </a:txBody>
                  <a:tcPr/>
                </a:tc>
                <a:tc>
                  <a:txBody>
                    <a:bodyPr/>
                    <a:lstStyle/>
                    <a:p>
                      <a:pPr algn="l"/>
                      <a:r>
                        <a:rPr lang="it-IT" sz="1050" b="1" dirty="0"/>
                        <a:t>YES</a:t>
                      </a:r>
                      <a:r>
                        <a:rPr lang="it-IT" sz="1050" dirty="0"/>
                        <a:t>, </a:t>
                      </a:r>
                      <a:r>
                        <a:rPr lang="en-US" sz="1050" dirty="0"/>
                        <a:t>The diagnosis aligns with the ground truth by identifying a timeout and incomplete execution, which are explicitly mentioned. The additional details about protocol violations, errors, and inconsistencies enrich the generic ground truth without contradicting it. These are plausible symptoms of the same failure category (execution not completed correctly).</a:t>
                      </a:r>
                      <a:endParaRPr lang="it-IT" sz="1050" dirty="0"/>
                    </a:p>
                  </a:txBody>
                  <a:tcPr/>
                </a:tc>
                <a:tc>
                  <a:txBody>
                    <a:bodyPr/>
                    <a:lstStyle/>
                    <a:p>
                      <a:pPr algn="l"/>
                      <a:r>
                        <a:rPr lang="it-IT" sz="1050" b="1" dirty="0"/>
                        <a:t>YES</a:t>
                      </a:r>
                      <a:r>
                        <a:rPr lang="it-IT" sz="1050" dirty="0"/>
                        <a:t>, </a:t>
                      </a:r>
                      <a:r>
                        <a:rPr lang="en-US" sz="1050" dirty="0"/>
                        <a:t>The diagnosis correctly identifies the same defect mechanism as the ground truth. Both point to the improper handling of the struct param memory, specifically its premature deallocation, which violates the lifetime requirements for thread arguments. The diagnosis provides a detailed explanation of the root cause, which aligns with the ground truth's warning about the need to manage the deallocation properly. The causal chain is sound and within the same defect family (lifetime management).</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50210860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A40BA-12B8-ED18-6E6F-9A12DF180DD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7382A86-66DA-9690-E651-C27581367928}"/>
              </a:ext>
            </a:extLst>
          </p:cNvPr>
          <p:cNvSpPr>
            <a:spLocks noGrp="1"/>
          </p:cNvSpPr>
          <p:nvPr>
            <p:ph type="title"/>
          </p:nvPr>
        </p:nvSpPr>
        <p:spPr>
          <a:xfrm>
            <a:off x="117986" y="86324"/>
            <a:ext cx="11572567" cy="1016072"/>
          </a:xfrm>
        </p:spPr>
        <p:txBody>
          <a:bodyPr/>
          <a:lstStyle/>
          <a:p>
            <a:r>
              <a:rPr lang="it-IT" sz="2400" dirty="0"/>
              <a:t>Esempio di risultato (</a:t>
            </a:r>
            <a:r>
              <a:rPr lang="it-IT" sz="2400" dirty="0" err="1"/>
              <a:t>dynamic_failure</a:t>
            </a:r>
            <a:r>
              <a:rPr lang="it-IT" sz="2400" dirty="0"/>
              <a:t>):</a:t>
            </a:r>
          </a:p>
        </p:txBody>
      </p:sp>
      <p:sp>
        <p:nvSpPr>
          <p:cNvPr id="6" name="Segnaposto contenuto 5">
            <a:extLst>
              <a:ext uri="{FF2B5EF4-FFF2-40B4-BE49-F238E27FC236}">
                <a16:creationId xmlns:a16="http://schemas.microsoft.com/office/drawing/2014/main" id="{2E95C59C-7A15-4ACD-C9F3-F76BA98D1F3D}"/>
              </a:ext>
            </a:extLst>
          </p:cNvPr>
          <p:cNvSpPr>
            <a:spLocks noGrp="1"/>
          </p:cNvSpPr>
          <p:nvPr>
            <p:ph idx="1"/>
          </p:nvPr>
        </p:nvSpPr>
        <p:spPr/>
        <p:txBody>
          <a:bodyPr/>
          <a:lstStyle/>
          <a:p>
            <a:endParaRPr lang="it-IT"/>
          </a:p>
        </p:txBody>
      </p:sp>
      <p:graphicFrame>
        <p:nvGraphicFramePr>
          <p:cNvPr id="8" name="Segnaposto contenuto 3">
            <a:extLst>
              <a:ext uri="{FF2B5EF4-FFF2-40B4-BE49-F238E27FC236}">
                <a16:creationId xmlns:a16="http://schemas.microsoft.com/office/drawing/2014/main" id="{D2B09CBE-3B6A-9CD6-B83A-9CE8AFF28815}"/>
              </a:ext>
            </a:extLst>
          </p:cNvPr>
          <p:cNvGraphicFramePr>
            <a:graphicFrameLocks/>
          </p:cNvGraphicFramePr>
          <p:nvPr>
            <p:extLst>
              <p:ext uri="{D42A27DB-BD31-4B8C-83A1-F6EECF244321}">
                <p14:modId xmlns:p14="http://schemas.microsoft.com/office/powerpoint/2010/main" val="1574735705"/>
              </p:ext>
            </p:extLst>
          </p:nvPr>
        </p:nvGraphicFramePr>
        <p:xfrm>
          <a:off x="117986" y="476373"/>
          <a:ext cx="11916698" cy="642366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26142">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961759">
                  <a:extLst>
                    <a:ext uri="{9D8B030D-6E8A-4147-A177-3AD203B41FA5}">
                      <a16:colId xmlns:a16="http://schemas.microsoft.com/office/drawing/2014/main" val="3564228665"/>
                    </a:ext>
                  </a:extLst>
                </a:gridCol>
                <a:gridCol w="619432">
                  <a:extLst>
                    <a:ext uri="{9D8B030D-6E8A-4147-A177-3AD203B41FA5}">
                      <a16:colId xmlns:a16="http://schemas.microsoft.com/office/drawing/2014/main" val="1079194908"/>
                    </a:ext>
                  </a:extLst>
                </a:gridCol>
                <a:gridCol w="629265">
                  <a:extLst>
                    <a:ext uri="{9D8B030D-6E8A-4147-A177-3AD203B41FA5}">
                      <a16:colId xmlns:a16="http://schemas.microsoft.com/office/drawing/2014/main" val="457757330"/>
                    </a:ext>
                  </a:extLst>
                </a:gridCol>
                <a:gridCol w="373625">
                  <a:extLst>
                    <a:ext uri="{9D8B030D-6E8A-4147-A177-3AD203B41FA5}">
                      <a16:colId xmlns:a16="http://schemas.microsoft.com/office/drawing/2014/main" val="75598170"/>
                    </a:ext>
                  </a:extLst>
                </a:gridCol>
                <a:gridCol w="1710813">
                  <a:extLst>
                    <a:ext uri="{9D8B030D-6E8A-4147-A177-3AD203B41FA5}">
                      <a16:colId xmlns:a16="http://schemas.microsoft.com/office/drawing/2014/main" val="963411808"/>
                    </a:ext>
                  </a:extLst>
                </a:gridCol>
                <a:gridCol w="393291">
                  <a:extLst>
                    <a:ext uri="{9D8B030D-6E8A-4147-A177-3AD203B41FA5}">
                      <a16:colId xmlns:a16="http://schemas.microsoft.com/office/drawing/2014/main" val="27591704"/>
                    </a:ext>
                  </a:extLst>
                </a:gridCol>
                <a:gridCol w="1406013">
                  <a:extLst>
                    <a:ext uri="{9D8B030D-6E8A-4147-A177-3AD203B41FA5}">
                      <a16:colId xmlns:a16="http://schemas.microsoft.com/office/drawing/2014/main" val="228824343"/>
                    </a:ext>
                  </a:extLst>
                </a:gridCol>
                <a:gridCol w="1297858">
                  <a:extLst>
                    <a:ext uri="{9D8B030D-6E8A-4147-A177-3AD203B41FA5}">
                      <a16:colId xmlns:a16="http://schemas.microsoft.com/office/drawing/2014/main" val="2134066566"/>
                    </a:ext>
                  </a:extLst>
                </a:gridCol>
                <a:gridCol w="1533832">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chia</a:t>
                      </a:r>
                      <a:r>
                        <a:rPr lang="it-IT" sz="1050" dirty="0"/>
                        <a:t>-me</a:t>
                      </a:r>
                    </a:p>
                  </a:txBody>
                  <a:tcPr/>
                </a:tc>
                <a:tc>
                  <a:txBody>
                    <a:bodyPr/>
                    <a:lstStyle/>
                    <a:p>
                      <a:pPr algn="l"/>
                      <a:r>
                        <a:rPr lang="it-IT" sz="1050" dirty="0" err="1"/>
                        <a:t>remote_procedure_call</a:t>
                      </a:r>
                      <a:endParaRPr lang="it-IT" sz="1050" dirty="0"/>
                    </a:p>
                  </a:txBody>
                  <a:tcPr/>
                </a:tc>
                <a:tc>
                  <a:txBody>
                    <a:bodyPr/>
                    <a:lstStyle/>
                    <a:p>
                      <a:pPr algn="l"/>
                      <a:r>
                        <a:rPr lang="it-IT" sz="1050" dirty="0"/>
                        <a:t>262d99f3d29992606d89b32c0edd36d04185d0c2</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call. L'esercizio non è ancora stato svolto </a:t>
                      </a:r>
                      <a:r>
                        <a:rPr lang="it-IT" sz="1050" dirty="0" err="1"/>
                        <a:t>correttamente.L'esecuzione</a:t>
                      </a:r>
                      <a:r>
                        <a:rPr lang="it-IT" sz="1050" dirty="0"/>
                        <a:t> non è corretta: Errore nel valore di PRODUCI CON SOMMA ricevuto dal server\</a:t>
                      </a:r>
                      <a:r>
                        <a:rPr lang="it-IT" sz="1050" dirty="0" err="1"/>
                        <a:t>nIl</a:t>
                      </a:r>
                      <a:r>
                        <a:rPr lang="it-IT" sz="1050" dirty="0"/>
                        <a:t> numero totale di messaggi non corrisponde a quello richiesto dalla traccia</a:t>
                      </a:r>
                    </a:p>
                  </a:txBody>
                  <a:tcPr/>
                </a:tc>
                <a:tc>
                  <a:txBody>
                    <a:bodyPr/>
                    <a:lstStyle/>
                    <a:p>
                      <a:pPr algn="l"/>
                      <a:r>
                        <a:rPr lang="it-IT" sz="1050" dirty="0"/>
                        <a:t>[Produttore] Chiamo PRODUCI CON SOMMA(4, 8, 8)\n[Client] Invio richiesta PRODUCI_CON_SOMMA(4, 8, 8) (CONTINUA)…</a:t>
                      </a:r>
                    </a:p>
                  </a:txBody>
                  <a:tcPr/>
                </a:tc>
                <a:tc>
                  <a:txBody>
                    <a:bodyPr/>
                    <a:lstStyle/>
                    <a:p>
                      <a:pPr algn="l"/>
                      <a:r>
                        <a:rPr lang="it-IT" sz="1050" dirty="0"/>
                        <a:t> {</a:t>
                      </a:r>
                    </a:p>
                    <a:p>
                      <a:pPr algn="l"/>
                      <a:r>
                        <a:rPr lang="it-IT" sz="1050" dirty="0"/>
                        <a:t>"file": "</a:t>
                      </a:r>
                      <a:r>
                        <a:rPr lang="it-IT" sz="1050" dirty="0" err="1"/>
                        <a:t>server.c</a:t>
                      </a:r>
                      <a:r>
                        <a:rPr lang="it-IT" sz="1050" dirty="0"/>
                        <a:t>",                "line": 71,                "</a:t>
                      </a:r>
                      <a:r>
                        <a:rPr lang="it-IT" sz="1050" dirty="0" err="1"/>
                        <a:t>message</a:t>
                      </a:r>
                      <a:r>
                        <a:rPr lang="it-IT" sz="1050" dirty="0"/>
                        <a:t>": «E’ richiesto che la struttura dati con i parametri del </a:t>
                      </a:r>
                      <a:r>
                        <a:rPr lang="it-IT" sz="1050" dirty="0" err="1"/>
                        <a:t>thread</a:t>
                      </a:r>
                      <a:r>
                        <a:rPr lang="it-IT" sz="1050" dirty="0"/>
                        <a:t> worker venga deallocata dallo heap, utilizzando free()."            }</a:t>
                      </a:r>
                    </a:p>
                  </a:txBody>
                  <a:tcPr/>
                </a:tc>
                <a:tc>
                  <a:txBody>
                    <a:bodyPr/>
                    <a:lstStyle/>
                    <a:p>
                      <a:pPr algn="l"/>
                      <a:r>
                        <a:rPr lang="it-IT" sz="1050" b="1" dirty="0"/>
                        <a:t>NO</a:t>
                      </a:r>
                    </a:p>
                  </a:txBody>
                  <a:tcPr/>
                </a:tc>
                <a:tc>
                  <a:txBody>
                    <a:bodyPr/>
                    <a:lstStyle/>
                    <a:p>
                      <a:pPr algn="l"/>
                      <a:r>
                        <a:rPr lang="en-US" sz="1050" dirty="0"/>
                        <a:t>The immediate replies to PRODUCI_CON_SOMMA and PRODUCI requests return placeholder values (</a:t>
                      </a:r>
                      <a:r>
                        <a:rPr lang="en-US" sz="1050" dirty="0" err="1"/>
                        <a:t>risultato</a:t>
                      </a:r>
                      <a:r>
                        <a:rPr lang="en-US" sz="1050" dirty="0"/>
                        <a:t>=0), which contradict the semantic expectation of computed results. The correct values (e.g., 20 for PRODUCI_CON_SOMMA) only appear later in CONSUMA replies, indicating a visible mismatch in request/reply association. This violates the RPC protocol, where each request should receive a meaningful immediate reply.</a:t>
                      </a:r>
                      <a:endParaRPr lang="it-IT" sz="1050" dirty="0"/>
                    </a:p>
                  </a:txBody>
                  <a:tcPr/>
                </a:tc>
                <a:tc>
                  <a:txBody>
                    <a:bodyPr/>
                    <a:lstStyle/>
                    <a:p>
                      <a:pPr algn="l"/>
                      <a:r>
                        <a:rPr lang="it-IT" sz="1050" b="1" dirty="0"/>
                        <a:t>NO</a:t>
                      </a:r>
                    </a:p>
                  </a:txBody>
                  <a:tcPr/>
                </a:tc>
                <a:tc>
                  <a:txBody>
                    <a:bodyPr/>
                    <a:lstStyle/>
                    <a:p>
                      <a:pPr algn="l"/>
                      <a:r>
                        <a:rPr lang="en-US" sz="1050" dirty="0"/>
                        <a:t>In FILE: </a:t>
                      </a:r>
                      <a:r>
                        <a:rPr lang="en-US" sz="1050" dirty="0" err="1"/>
                        <a:t>server.c</a:t>
                      </a:r>
                      <a:r>
                        <a:rPr lang="en-US" sz="1050" dirty="0"/>
                        <a:t>, function worker, the struct param* code is shared among all worker threads without synchronization, leading to a race condition. Each thread accesses code-&gt;</a:t>
                      </a:r>
                      <a:r>
                        <a:rPr lang="en-US" sz="1050" dirty="0" err="1"/>
                        <a:t>id_coda_richieste</a:t>
                      </a:r>
                      <a:r>
                        <a:rPr lang="en-US" sz="1050" dirty="0"/>
                        <a:t> and code-&gt;</a:t>
                      </a:r>
                      <a:r>
                        <a:rPr lang="en-US" sz="1050" dirty="0" err="1"/>
                        <a:t>id_coda_risposte</a:t>
                      </a:r>
                      <a:r>
                        <a:rPr lang="en-US" sz="1050" dirty="0"/>
                        <a:t> concurrently (lines 73-74), but no mutex or thread-local copy is used to protect these accesses. This violates the synchronization policy for shared resources and can cause threads to read inconsistent or corrupted values.</a:t>
                      </a:r>
                      <a:endParaRPr lang="it-IT" sz="1050" dirty="0"/>
                    </a:p>
                  </a:txBody>
                  <a:tcPr/>
                </a:tc>
                <a:tc>
                  <a:txBody>
                    <a:bodyPr/>
                    <a:lstStyle/>
                    <a:p>
                      <a:pPr algn="l"/>
                      <a:r>
                        <a:rPr lang="it-IT" sz="1050" b="1" dirty="0"/>
                        <a:t>YES</a:t>
                      </a:r>
                      <a:r>
                        <a:rPr lang="it-IT" sz="1050" dirty="0"/>
                        <a:t>, </a:t>
                      </a:r>
                      <a:r>
                        <a:rPr lang="en-US" sz="1050" dirty="0"/>
                        <a:t>The diagnosis identifies a mismatch in request/reply association and placeholder values, which aligns with the ground truth's mention of incorrect execution and an error in the value of PRODUCI CON SOMMA. Both point to a failure in the output's correctness, specifically related to values and protocol adherence. The diagnosis enriches the generic ground truth without contradicting it.</a:t>
                      </a:r>
                      <a:endParaRPr lang="it-IT" sz="1050" dirty="0"/>
                    </a:p>
                  </a:txBody>
                  <a:tcPr/>
                </a:tc>
                <a:tc>
                  <a:txBody>
                    <a:bodyPr/>
                    <a:lstStyle/>
                    <a:p>
                      <a:pPr algn="l"/>
                      <a:r>
                        <a:rPr lang="it-IT" sz="1050" b="1" dirty="0"/>
                        <a:t>NO</a:t>
                      </a:r>
                      <a:r>
                        <a:rPr lang="it-IT" sz="1050" dirty="0"/>
                        <a:t>, </a:t>
                      </a:r>
                      <a:r>
                        <a:rPr lang="en-US" sz="1050" dirty="0"/>
                        <a:t>The ground truth warning pertains to the deallocation of the struct param object (code) from the heap using free(), which is a lifetime management issue. The diagnosis, however, identifies a race condition due to unsynchronized access to shared fields of the struct param object (code-&gt;</a:t>
                      </a:r>
                      <a:r>
                        <a:rPr lang="en-US" sz="1050" dirty="0" err="1"/>
                        <a:t>id_coda_richieste</a:t>
                      </a:r>
                      <a:r>
                        <a:rPr lang="en-US" sz="1050" dirty="0"/>
                        <a:t> and code-&gt;</a:t>
                      </a:r>
                      <a:r>
                        <a:rPr lang="en-US" sz="1050" dirty="0" err="1"/>
                        <a:t>id_coda_risposte</a:t>
                      </a:r>
                      <a:r>
                        <a:rPr lang="en-US" sz="1050" dirty="0"/>
                        <a:t>), which is a synchronization issue. These are distinct defect families, and the diagnosis does not address the lifetime management issue described in the ground truth.</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89007146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3107-CEDE-C997-614F-C7C43C8855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756D2FA-E59E-53FE-29E3-116FD528BA9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static_failure</a:t>
            </a:r>
            <a:r>
              <a:rPr lang="it-IT" sz="2400" dirty="0"/>
              <a:t>):</a:t>
            </a:r>
          </a:p>
        </p:txBody>
      </p:sp>
      <p:graphicFrame>
        <p:nvGraphicFramePr>
          <p:cNvPr id="4" name="Segnaposto contenuto 3">
            <a:extLst>
              <a:ext uri="{FF2B5EF4-FFF2-40B4-BE49-F238E27FC236}">
                <a16:creationId xmlns:a16="http://schemas.microsoft.com/office/drawing/2014/main" id="{BDCD3246-C1A1-4320-7932-F426D37C21D6}"/>
              </a:ext>
            </a:extLst>
          </p:cNvPr>
          <p:cNvGraphicFramePr>
            <a:graphicFrameLocks noGrp="1"/>
          </p:cNvGraphicFramePr>
          <p:nvPr>
            <p:ph idx="1"/>
            <p:extLst>
              <p:ext uri="{D42A27DB-BD31-4B8C-83A1-F6EECF244321}">
                <p14:modId xmlns:p14="http://schemas.microsoft.com/office/powerpoint/2010/main" val="4217670997"/>
              </p:ext>
            </p:extLst>
          </p:nvPr>
        </p:nvGraphicFramePr>
        <p:xfrm>
          <a:off x="117986" y="434340"/>
          <a:ext cx="11916698" cy="626364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85136">
                  <a:extLst>
                    <a:ext uri="{9D8B030D-6E8A-4147-A177-3AD203B41FA5}">
                      <a16:colId xmlns:a16="http://schemas.microsoft.com/office/drawing/2014/main" val="3324487126"/>
                    </a:ext>
                  </a:extLst>
                </a:gridCol>
                <a:gridCol w="255638">
                  <a:extLst>
                    <a:ext uri="{9D8B030D-6E8A-4147-A177-3AD203B41FA5}">
                      <a16:colId xmlns:a16="http://schemas.microsoft.com/office/drawing/2014/main" val="2402471246"/>
                    </a:ext>
                  </a:extLst>
                </a:gridCol>
                <a:gridCol w="786581">
                  <a:extLst>
                    <a:ext uri="{9D8B030D-6E8A-4147-A177-3AD203B41FA5}">
                      <a16:colId xmlns:a16="http://schemas.microsoft.com/office/drawing/2014/main" val="3564228665"/>
                    </a:ext>
                  </a:extLst>
                </a:gridCol>
                <a:gridCol w="589936">
                  <a:extLst>
                    <a:ext uri="{9D8B030D-6E8A-4147-A177-3AD203B41FA5}">
                      <a16:colId xmlns:a16="http://schemas.microsoft.com/office/drawing/2014/main" val="1079194908"/>
                    </a:ext>
                  </a:extLst>
                </a:gridCol>
                <a:gridCol w="1101212">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386348">
                  <a:extLst>
                    <a:ext uri="{9D8B030D-6E8A-4147-A177-3AD203B41FA5}">
                      <a16:colId xmlns:a16="http://schemas.microsoft.com/office/drawing/2014/main" val="963411808"/>
                    </a:ext>
                  </a:extLst>
                </a:gridCol>
                <a:gridCol w="383458">
                  <a:extLst>
                    <a:ext uri="{9D8B030D-6E8A-4147-A177-3AD203B41FA5}">
                      <a16:colId xmlns:a16="http://schemas.microsoft.com/office/drawing/2014/main" val="27591704"/>
                    </a:ext>
                  </a:extLst>
                </a:gridCol>
                <a:gridCol w="1710813">
                  <a:extLst>
                    <a:ext uri="{9D8B030D-6E8A-4147-A177-3AD203B41FA5}">
                      <a16:colId xmlns:a16="http://schemas.microsoft.com/office/drawing/2014/main" val="228824343"/>
                    </a:ext>
                  </a:extLst>
                </a:gridCol>
                <a:gridCol w="904568">
                  <a:extLst>
                    <a:ext uri="{9D8B030D-6E8A-4147-A177-3AD203B41FA5}">
                      <a16:colId xmlns:a16="http://schemas.microsoft.com/office/drawing/2014/main" val="2134066566"/>
                    </a:ext>
                  </a:extLst>
                </a:gridCol>
                <a:gridCol w="1592826">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amezak1</a:t>
                      </a:r>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eb3316a2bd3d9354d2aecd8e4c45d9aeb57f3f4d</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multithreadL'esercizio</a:t>
                      </a:r>
                      <a:r>
                        <a:rPr lang="it-IT" sz="1050" dirty="0"/>
                        <a:t> non è ancora stato svolto correttamente. Anche se il programma esegue, sono stati riscontrati i seguenti difetti all'interno del codice (</a:t>
                      </a:r>
                      <a:r>
                        <a:rPr lang="it-IT" sz="1050" dirty="0" err="1"/>
                        <a:t>Server.c</a:t>
                      </a:r>
                      <a:r>
                        <a:rPr lang="it-IT" sz="1050" dirty="0"/>
                        <a:t>)</a:t>
                      </a:r>
                    </a:p>
                  </a:txBody>
                  <a:tcPr/>
                </a:tc>
                <a:tc>
                  <a:txBody>
                    <a:bodyPr/>
                    <a:lstStyle/>
                    <a:p>
                      <a:pPr algn="l"/>
                      <a:r>
                        <a:rPr lang="it-IT" sz="1050" dirty="0"/>
                        <a:t>Richiesta 0 Inviata (62, 17) [PID=2230209]\n\</a:t>
                      </a:r>
                      <a:r>
                        <a:rPr lang="it-IT" sz="1050" dirty="0" err="1"/>
                        <a:t>nRisposta</a:t>
                      </a:r>
                      <a:r>
                        <a:rPr lang="it-IT" sz="1050" dirty="0"/>
                        <a:t> 0 Ricevuta (1054) [PID=2230209]\n\</a:t>
                      </a:r>
                      <a:r>
                        <a:rPr lang="it-IT" sz="1050" dirty="0" err="1"/>
                        <a:t>nRichiesta</a:t>
                      </a:r>
                      <a:r>
                        <a:rPr lang="it-IT" sz="1050" dirty="0"/>
                        <a:t> 1 Inviata (26, 67) [PID=2230209](CONTINUA)…</a:t>
                      </a:r>
                    </a:p>
                  </a:txBody>
                  <a:tcPr/>
                </a:tc>
                <a:tc>
                  <a:txBody>
                    <a:bodyPr/>
                    <a:lstStyle/>
                    <a:p>
                      <a:pPr algn="l"/>
                      <a:r>
                        <a:rPr lang="it-IT" sz="1050" dirty="0"/>
                        <a:t> {                "file": "</a:t>
                      </a:r>
                      <a:r>
                        <a:rPr lang="it-IT" sz="1050" dirty="0" err="1"/>
                        <a:t>Server.c</a:t>
                      </a:r>
                      <a:r>
                        <a:rPr lang="it-IT" sz="1050" dirty="0"/>
                        <a:t>",                "line": 41,                "</a:t>
                      </a:r>
                      <a:r>
                        <a:rPr lang="it-IT" sz="1050" dirty="0" err="1"/>
                        <a:t>message</a:t>
                      </a:r>
                      <a:r>
                        <a:rPr lang="it-IT" sz="1050" dirty="0"/>
                        <a:t>": "\u00c8 richiesto che il </a:t>
                      </a:r>
                      <a:r>
                        <a:rPr lang="it-IT" sz="1050" dirty="0" err="1"/>
                        <a:t>mutex</a:t>
                      </a:r>
                      <a:r>
                        <a:rPr lang="it-IT" sz="1050" dirty="0"/>
                        <a:t> sia definito e inizializzato fuori dal ciclo </a:t>
                      </a:r>
                      <a:r>
                        <a:rPr lang="it-IT" sz="1050" dirty="0" err="1"/>
                        <a:t>while</a:t>
                      </a:r>
                      <a:r>
                        <a:rPr lang="it-IT" sz="1050" dirty="0"/>
                        <a:t>(1){...} del server. Si suggerisce di dichiarare una variabile globale di tipo </a:t>
                      </a:r>
                      <a:r>
                        <a:rPr lang="it-IT" sz="1050" dirty="0" err="1"/>
                        <a:t>pthread_mutex_t</a:t>
                      </a:r>
                      <a:r>
                        <a:rPr lang="it-IT" sz="1050" dirty="0"/>
                        <a:t>, e di inizializzarla subito prima del ciclo tramite </a:t>
                      </a:r>
                      <a:r>
                        <a:rPr lang="it-IT" sz="1050" dirty="0" err="1"/>
                        <a:t>pthread_mutex_init</a:t>
                      </a:r>
                      <a:r>
                        <a:rPr lang="it-IT" sz="1050" dirty="0"/>
                        <a:t>()."            }</a:t>
                      </a:r>
                    </a:p>
                  </a:txBody>
                  <a:tcPr/>
                </a:tc>
                <a:tc>
                  <a:txBody>
                    <a:bodyPr/>
                    <a:lstStyle/>
                    <a:p>
                      <a:pPr algn="l"/>
                      <a:r>
                        <a:rPr lang="it-IT" sz="1050" b="1" dirty="0"/>
                        <a:t>YES</a:t>
                      </a:r>
                    </a:p>
                  </a:txBody>
                  <a:tcPr/>
                </a:tc>
                <a:tc>
                  <a:txBody>
                    <a:bodyPr/>
                    <a:lstStyle/>
                    <a:p>
                      <a:pPr algn="l"/>
                      <a:r>
                        <a:rPr lang="en-US" sz="1050" dirty="0"/>
                        <a:t>No concrete output mismatch is visible. The trace shows consistent request/reply pairing for all clients, with correct arithmetic results for the product of the two integers in each request. The counts of requests and replies match the expected protocol (5 requests and replies per client, 3 clients total). The server termination phase is not explicitly shown but does not affect the correctness of the visible interactions.</a:t>
                      </a:r>
                      <a:endParaRPr lang="it-IT" sz="1050" dirty="0"/>
                    </a:p>
                  </a:txBody>
                  <a:tcPr/>
                </a:tc>
                <a:tc>
                  <a:txBody>
                    <a:bodyPr/>
                    <a:lstStyle/>
                    <a:p>
                      <a:pPr algn="l"/>
                      <a:r>
                        <a:rPr lang="it-IT" sz="1050" b="1" dirty="0"/>
                        <a:t>NO</a:t>
                      </a:r>
                    </a:p>
                  </a:txBody>
                  <a:tcPr/>
                </a:tc>
                <a:tc>
                  <a:txBody>
                    <a:bodyPr/>
                    <a:lstStyle/>
                    <a:p>
                      <a:pPr algn="l"/>
                      <a:r>
                        <a:rPr lang="en-US" sz="1050" dirty="0"/>
                        <a:t>FILE: </a:t>
                      </a:r>
                      <a:r>
                        <a:rPr lang="en-US" sz="1050" dirty="0" err="1"/>
                        <a:t>server.c</a:t>
                      </a:r>
                      <a:r>
                        <a:rPr lang="en-US" sz="1050" dirty="0"/>
                        <a:t>, function </a:t>
                      </a:r>
                      <a:r>
                        <a:rPr lang="en-US" sz="1050" dirty="0" err="1"/>
                        <a:t>Prodotto</a:t>
                      </a:r>
                      <a:r>
                        <a:rPr lang="en-US" sz="1050" dirty="0"/>
                        <a:t>, lines 86-101: The mutex </a:t>
                      </a:r>
                      <a:r>
                        <a:rPr lang="en-US" sz="1050" dirty="0" err="1"/>
                        <a:t>pthread_mutex_t</a:t>
                      </a:r>
                      <a:r>
                        <a:rPr lang="en-US" sz="1050" dirty="0"/>
                        <a:t> mutex is initialized inside the worker thread function </a:t>
                      </a:r>
                      <a:r>
                        <a:rPr lang="en-US" sz="1050" dirty="0" err="1"/>
                        <a:t>Prodotto</a:t>
                      </a:r>
                      <a:r>
                        <a:rPr lang="en-US" sz="1050" dirty="0"/>
                        <a:t> at line 86. This violates the synchronization policy because the mutex is re-initialized for each thread instead of being initialized once globally. This results in each thread using a separate mutex, which fails to enforce mutual exclusion on the shared resource </a:t>
                      </a:r>
                      <a:r>
                        <a:rPr lang="en-US" sz="1050" dirty="0" err="1"/>
                        <a:t>id_coda_risposte</a:t>
                      </a:r>
                      <a:r>
                        <a:rPr lang="en-US" sz="1050" dirty="0"/>
                        <a:t> during </a:t>
                      </a:r>
                      <a:r>
                        <a:rPr lang="en-US" sz="1050" dirty="0" err="1"/>
                        <a:t>msgsnd</a:t>
                      </a:r>
                      <a:r>
                        <a:rPr lang="en-US" sz="1050" dirty="0"/>
                        <a:t>(...) at line 94. The mutex should be initialized once globally in the main server function to ensure proper synchronization across all threads.</a:t>
                      </a:r>
                      <a:endParaRPr lang="it-IT" sz="1050" dirty="0"/>
                    </a:p>
                  </a:txBody>
                  <a:tcPr/>
                </a:tc>
                <a:tc>
                  <a:txBody>
                    <a:bodyPr/>
                    <a:lstStyle/>
                    <a:p>
                      <a:pPr algn="l"/>
                      <a:r>
                        <a:rPr lang="it-IT" sz="1050" b="1" dirty="0"/>
                        <a:t>YES</a:t>
                      </a:r>
                      <a:r>
                        <a:rPr lang="it-IT" sz="1050" dirty="0"/>
                        <a:t>, </a:t>
                      </a:r>
                      <a:r>
                        <a:rPr lang="en-US" sz="1050" dirty="0"/>
                        <a:t>The diagnosis correctly states that no concrete output mismatch is visible and aligns with the ground truth, which confirms the visible execution/output is correct. It does not invent any additional problems or contradict the ground truth.</a:t>
                      </a:r>
                      <a:endParaRPr lang="it-IT" sz="1050" dirty="0"/>
                    </a:p>
                  </a:txBody>
                  <a:tcPr/>
                </a:tc>
                <a:tc>
                  <a:txBody>
                    <a:bodyPr/>
                    <a:lstStyle/>
                    <a:p>
                      <a:pPr algn="l"/>
                      <a:r>
                        <a:rPr lang="it-IT" sz="1050" b="1" dirty="0"/>
                        <a:t>YES</a:t>
                      </a:r>
                      <a:r>
                        <a:rPr lang="it-IT" sz="1050" dirty="0"/>
                        <a:t>, </a:t>
                      </a:r>
                      <a:r>
                        <a:rPr lang="en-US" sz="1050" dirty="0"/>
                        <a:t>The diagnosis correctly identifies the same underlying defect mechanism as the ground truth warning: the improper initialization of the mutex within the worker thread function instead of globally, which violates synchronization requirements. The diagnosis provides additional details about the consequences (failure to enforce mutual exclusion) but remains within the same defect family and does not contradict the ground truth.</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62882138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CBFEC-4C6B-8DC1-96EA-2E89AB0742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D92163E-1FE4-E06D-215F-84535B85473E}"/>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static_failure</a:t>
            </a:r>
            <a:r>
              <a:rPr lang="it-IT" sz="2400" dirty="0"/>
              <a:t>):</a:t>
            </a:r>
          </a:p>
        </p:txBody>
      </p:sp>
      <p:graphicFrame>
        <p:nvGraphicFramePr>
          <p:cNvPr id="4" name="Segnaposto contenuto 3">
            <a:extLst>
              <a:ext uri="{FF2B5EF4-FFF2-40B4-BE49-F238E27FC236}">
                <a16:creationId xmlns:a16="http://schemas.microsoft.com/office/drawing/2014/main" id="{6F16AE86-EDE1-C0A8-8E64-9409A17DB1B4}"/>
              </a:ext>
            </a:extLst>
          </p:cNvPr>
          <p:cNvGraphicFramePr>
            <a:graphicFrameLocks noGrp="1"/>
          </p:cNvGraphicFramePr>
          <p:nvPr>
            <p:ph idx="1"/>
            <p:extLst>
              <p:ext uri="{D42A27DB-BD31-4B8C-83A1-F6EECF244321}">
                <p14:modId xmlns:p14="http://schemas.microsoft.com/office/powerpoint/2010/main" val="2828294239"/>
              </p:ext>
            </p:extLst>
          </p:nvPr>
        </p:nvGraphicFramePr>
        <p:xfrm>
          <a:off x="117986" y="434340"/>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806245">
                  <a:extLst>
                    <a:ext uri="{9D8B030D-6E8A-4147-A177-3AD203B41FA5}">
                      <a16:colId xmlns:a16="http://schemas.microsoft.com/office/drawing/2014/main" val="3564228665"/>
                    </a:ext>
                  </a:extLst>
                </a:gridCol>
                <a:gridCol w="589935">
                  <a:extLst>
                    <a:ext uri="{9D8B030D-6E8A-4147-A177-3AD203B41FA5}">
                      <a16:colId xmlns:a16="http://schemas.microsoft.com/office/drawing/2014/main" val="1079194908"/>
                    </a:ext>
                  </a:extLst>
                </a:gridCol>
                <a:gridCol w="806245">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99303">
                  <a:extLst>
                    <a:ext uri="{9D8B030D-6E8A-4147-A177-3AD203B41FA5}">
                      <a16:colId xmlns:a16="http://schemas.microsoft.com/office/drawing/2014/main" val="963411808"/>
                    </a:ext>
                  </a:extLst>
                </a:gridCol>
                <a:gridCol w="373626">
                  <a:extLst>
                    <a:ext uri="{9D8B030D-6E8A-4147-A177-3AD203B41FA5}">
                      <a16:colId xmlns:a16="http://schemas.microsoft.com/office/drawing/2014/main" val="27591704"/>
                    </a:ext>
                  </a:extLst>
                </a:gridCol>
                <a:gridCol w="1425677">
                  <a:extLst>
                    <a:ext uri="{9D8B030D-6E8A-4147-A177-3AD203B41FA5}">
                      <a16:colId xmlns:a16="http://schemas.microsoft.com/office/drawing/2014/main" val="228824343"/>
                    </a:ext>
                  </a:extLst>
                </a:gridCol>
                <a:gridCol w="1071717">
                  <a:extLst>
                    <a:ext uri="{9D8B030D-6E8A-4147-A177-3AD203B41FA5}">
                      <a16:colId xmlns:a16="http://schemas.microsoft.com/office/drawing/2014/main" val="2134066566"/>
                    </a:ext>
                  </a:extLst>
                </a:gridCol>
                <a:gridCol w="1307690">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CryptoGionni</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08557ac8ccee96209b8600dc2cd9b62681c0fd8b</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server aggregatore con </a:t>
                      </a:r>
                      <a:r>
                        <a:rPr lang="it-IT" sz="1050" dirty="0" err="1"/>
                        <a:t>thread</a:t>
                      </a:r>
                      <a:r>
                        <a:rPr lang="it-IT" sz="1050" dirty="0"/>
                        <a:t> L'esercizio non è ancora stato svolto correttamente. Anche se il programma esegue, sono stati riscontrati i seguenti difetti all'interno del codice (</a:t>
                      </a:r>
                      <a:r>
                        <a:rPr lang="it-IT" sz="1050" dirty="0" err="1"/>
                        <a:t>aggregatore.c</a:t>
                      </a:r>
                      <a:r>
                        <a:rPr lang="it-IT" sz="1050" dirty="0"/>
                        <a:t>)</a:t>
                      </a:r>
                    </a:p>
                  </a:txBody>
                  <a:tcPr/>
                </a:tc>
                <a:tc>
                  <a:txBody>
                    <a:bodyPr/>
                    <a:lstStyle/>
                    <a:p>
                      <a:pPr algn="l"/>
                      <a:r>
                        <a:rPr lang="it-IT" sz="1050" dirty="0"/>
                        <a:t>Avvio processo collettore (id coda = 6619185)...\</a:t>
                      </a:r>
                      <a:r>
                        <a:rPr lang="it-IT" sz="1050" dirty="0" err="1"/>
                        <a:t>nCollettore</a:t>
                      </a:r>
                      <a:r>
                        <a:rPr lang="it-IT" sz="1050" dirty="0"/>
                        <a:t>: In attesa di messaggi...(CONTINUA)…</a:t>
                      </a:r>
                    </a:p>
                  </a:txBody>
                  <a:tcPr/>
                </a:tc>
                <a:tc>
                  <a:txBody>
                    <a:bodyPr/>
                    <a:lstStyle/>
                    <a:p>
                      <a:pPr algn="l"/>
                      <a:r>
                        <a:rPr lang="it-IT" sz="1050" dirty="0"/>
                        <a:t> {                "file": "</a:t>
                      </a:r>
                      <a:r>
                        <a:rPr lang="it-IT" sz="1050" dirty="0" err="1"/>
                        <a:t>aggregatore.c</a:t>
                      </a:r>
                      <a:r>
                        <a:rPr lang="it-IT" sz="1050" dirty="0"/>
                        <a:t>",                "line": 226,                "</a:t>
                      </a:r>
                      <a:r>
                        <a:rPr lang="it-IT" sz="1050" dirty="0" err="1"/>
                        <a:t>message</a:t>
                      </a:r>
                      <a:r>
                        <a:rPr lang="it-IT" sz="1050" dirty="0"/>
                        <a:t>": «E’ necessario che i lettori possano leggere contemporaneamente il dato condiviso. Si applichi qui l'algoritmo visto a lezione."            }</a:t>
                      </a:r>
                    </a:p>
                  </a:txBody>
                  <a:tcPr/>
                </a:tc>
                <a:tc>
                  <a:txBody>
                    <a:bodyPr/>
                    <a:lstStyle/>
                    <a:p>
                      <a:pPr algn="l"/>
                      <a:r>
                        <a:rPr lang="it-IT" sz="1050" b="1" dirty="0"/>
                        <a:t>NO</a:t>
                      </a:r>
                    </a:p>
                  </a:txBody>
                  <a:tcPr/>
                </a:tc>
                <a:tc>
                  <a:txBody>
                    <a:bodyPr/>
                    <a:lstStyle/>
                    <a:p>
                      <a:pPr algn="l"/>
                      <a:r>
                        <a:rPr lang="en-US" sz="1050" dirty="0"/>
                        <a:t>The output shows mismatched values between the sensor and collectors. The sensor generates 10 values, but the collectors receive inconsistent sequences. For example, the sensor sends \"8, 3, 2, 7, 1, 0, 2, 3, 2, 8, \" but collectors receive different sequences, with some values duplicated or missing. This indicates a failure in the forwarding or distribution phase. Additionally, the counts of received values per collector are inconsistent with the expected 10 messages per collector. The visible protocol does not ensure correct pairing, ordering, or completion of the producer/consumer interaction.</a:t>
                      </a:r>
                      <a:endParaRPr lang="it-IT" sz="1050" dirty="0"/>
                    </a:p>
                  </a:txBody>
                  <a:tcPr/>
                </a:tc>
                <a:tc>
                  <a:txBody>
                    <a:bodyPr/>
                    <a:lstStyle/>
                    <a:p>
                      <a:pPr algn="l"/>
                      <a:r>
                        <a:rPr lang="it-IT" sz="1050" b="1" dirty="0"/>
                        <a:t>NO</a:t>
                      </a:r>
                    </a:p>
                  </a:txBody>
                  <a:tcPr/>
                </a:tc>
                <a:tc>
                  <a:txBody>
                    <a:bodyPr/>
                    <a:lstStyle/>
                    <a:p>
                      <a:pPr algn="l"/>
                      <a:r>
                        <a:rPr lang="en-US" sz="1050" dirty="0"/>
                        <a:t>FILE: </a:t>
                      </a:r>
                      <a:r>
                        <a:rPr lang="en-US" sz="1050" dirty="0" err="1"/>
                        <a:t>aggregatore.c</a:t>
                      </a:r>
                      <a:r>
                        <a:rPr lang="en-US" sz="1050" dirty="0"/>
                        <a:t>, function </a:t>
                      </a:r>
                      <a:r>
                        <a:rPr lang="en-US" sz="1050" dirty="0" err="1"/>
                        <a:t>lettura</a:t>
                      </a:r>
                      <a:r>
                        <a:rPr lang="en-US" sz="1050" dirty="0"/>
                        <a:t> (lines 180-199): The reader-writer synchronization policy is violated. The condition variable VC_SCRITT is signaled (line 197) even when there are active readers (</a:t>
                      </a:r>
                      <a:r>
                        <a:rPr lang="en-US" sz="1050" dirty="0" err="1"/>
                        <a:t>num_lett</a:t>
                      </a:r>
                      <a:r>
                        <a:rPr lang="en-US" sz="1050" dirty="0"/>
                        <a:t> &gt; 0). This can lead to a writer proceeding while readers are still accessing the shared variable, breaking the reader-writer concurrency requirement. The signal should only occur when no readers are active.</a:t>
                      </a:r>
                      <a:endParaRPr lang="it-IT" sz="1050" dirty="0"/>
                    </a:p>
                  </a:txBody>
                  <a:tcPr/>
                </a:tc>
                <a:tc>
                  <a:txBody>
                    <a:bodyPr/>
                    <a:lstStyle/>
                    <a:p>
                      <a:pPr algn="l"/>
                      <a:r>
                        <a:rPr lang="it-IT" sz="1050" b="1" dirty="0"/>
                        <a:t>NO</a:t>
                      </a:r>
                      <a:r>
                        <a:rPr lang="it-IT" sz="1050" dirty="0"/>
                        <a:t>, </a:t>
                      </a:r>
                      <a:r>
                        <a:rPr lang="en-US" sz="1050" dirty="0"/>
                        <a:t>The ground truth states that the visible execution/output is correct, but the diagnosis claims mismatched values, inconsistent sequences, and protocol failures, which contradicts the ground truth. The diagnosis invents problems not present in the output per the ground truth.</a:t>
                      </a:r>
                      <a:endParaRPr lang="it-IT" sz="1050" dirty="0"/>
                    </a:p>
                  </a:txBody>
                  <a:tcPr/>
                </a:tc>
                <a:tc>
                  <a:txBody>
                    <a:bodyPr/>
                    <a:lstStyle/>
                    <a:p>
                      <a:pPr algn="l"/>
                      <a:r>
                        <a:rPr lang="it-IT" sz="1050" b="1" dirty="0"/>
                        <a:t>YES</a:t>
                      </a:r>
                      <a:r>
                        <a:rPr lang="it-IT" sz="1050" dirty="0"/>
                        <a:t>, </a:t>
                      </a:r>
                      <a:r>
                        <a:rPr lang="en-US" sz="1050" dirty="0"/>
                        <a:t>The diagnosis identifies a reader-writer synchronization policy violation, which is causally related to the ground truth warning about ensuring readers can read concurrently. Both address the same defect mechanism of improper synchronization in the reader-writer concurrency model.</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4211994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67ECC-6E10-1B82-4284-D8B18139F19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074E40-F48A-B6FC-6E18-CFA507EE607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correct</a:t>
            </a:r>
            <a:r>
              <a:rPr lang="it-IT" sz="2400" dirty="0"/>
              <a:t>):</a:t>
            </a:r>
          </a:p>
        </p:txBody>
      </p:sp>
      <p:graphicFrame>
        <p:nvGraphicFramePr>
          <p:cNvPr id="4" name="Segnaposto contenuto 3">
            <a:extLst>
              <a:ext uri="{FF2B5EF4-FFF2-40B4-BE49-F238E27FC236}">
                <a16:creationId xmlns:a16="http://schemas.microsoft.com/office/drawing/2014/main" id="{5CF9969C-6F90-D94F-F1EF-C618C23D3DB1}"/>
              </a:ext>
            </a:extLst>
          </p:cNvPr>
          <p:cNvGraphicFramePr>
            <a:graphicFrameLocks noGrp="1"/>
          </p:cNvGraphicFramePr>
          <p:nvPr>
            <p:ph idx="1"/>
            <p:extLst>
              <p:ext uri="{D42A27DB-BD31-4B8C-83A1-F6EECF244321}">
                <p14:modId xmlns:p14="http://schemas.microsoft.com/office/powerpoint/2010/main" val="2443937202"/>
              </p:ext>
            </p:extLst>
          </p:nvPr>
        </p:nvGraphicFramePr>
        <p:xfrm>
          <a:off x="117986" y="434340"/>
          <a:ext cx="11916698" cy="628548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943896">
                  <a:extLst>
                    <a:ext uri="{9D8B030D-6E8A-4147-A177-3AD203B41FA5}">
                      <a16:colId xmlns:a16="http://schemas.microsoft.com/office/drawing/2014/main" val="3564228665"/>
                    </a:ext>
                  </a:extLst>
                </a:gridCol>
                <a:gridCol w="835742">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40310">
                  <a:extLst>
                    <a:ext uri="{9D8B030D-6E8A-4147-A177-3AD203B41FA5}">
                      <a16:colId xmlns:a16="http://schemas.microsoft.com/office/drawing/2014/main" val="963411808"/>
                    </a:ext>
                  </a:extLst>
                </a:gridCol>
                <a:gridCol w="344129">
                  <a:extLst>
                    <a:ext uri="{9D8B030D-6E8A-4147-A177-3AD203B41FA5}">
                      <a16:colId xmlns:a16="http://schemas.microsoft.com/office/drawing/2014/main" val="27591704"/>
                    </a:ext>
                  </a:extLst>
                </a:gridCol>
                <a:gridCol w="1199535">
                  <a:extLst>
                    <a:ext uri="{9D8B030D-6E8A-4147-A177-3AD203B41FA5}">
                      <a16:colId xmlns:a16="http://schemas.microsoft.com/office/drawing/2014/main" val="228824343"/>
                    </a:ext>
                  </a:extLst>
                </a:gridCol>
                <a:gridCol w="914400">
                  <a:extLst>
                    <a:ext uri="{9D8B030D-6E8A-4147-A177-3AD203B41FA5}">
                      <a16:colId xmlns:a16="http://schemas.microsoft.com/office/drawing/2014/main" val="2134066566"/>
                    </a:ext>
                  </a:extLst>
                </a:gridCol>
                <a:gridCol w="1779639">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ManuelParasmo</a:t>
                      </a:r>
                      <a:endParaRPr lang="it-IT" sz="1050" dirty="0"/>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006ef42d9d586537e5d1b18d4b5c3c411be92b73</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multithreadCongratulazioni</a:t>
                      </a:r>
                      <a:r>
                        <a:rPr lang="it-IT" sz="1050" dirty="0"/>
                        <a:t>, l'esercizio compila ed esegue correttamente, e non è stato riscontrato nessuno degli errori frequenti nel codice</a:t>
                      </a:r>
                    </a:p>
                  </a:txBody>
                  <a:tcPr/>
                </a:tc>
                <a:tc>
                  <a:txBody>
                    <a:bodyPr/>
                    <a:lstStyle/>
                    <a:p>
                      <a:pPr algn="l"/>
                      <a:r>
                        <a:rPr lang="it-IT" sz="1050" dirty="0"/>
                        <a:t>Richiesta 0 Inviata (36, 32) [PID=2361413]\n\</a:t>
                      </a:r>
                      <a:r>
                        <a:rPr lang="it-IT" sz="1050" dirty="0" err="1"/>
                        <a:t>nRisposta</a:t>
                      </a:r>
                      <a:r>
                        <a:rPr lang="it-IT" sz="1050" dirty="0"/>
                        <a:t> 0 Ricevuta (1152) [PID=2361413]\n\</a:t>
                      </a:r>
                      <a:r>
                        <a:rPr lang="it-IT" sz="1050" dirty="0" err="1"/>
                        <a:t>nRichiesta</a:t>
                      </a:r>
                      <a:r>
                        <a:rPr lang="it-IT" sz="1050" dirty="0"/>
                        <a:t> 1 Inviata (11, 54) [PID=2361413](CONTINUA)…</a:t>
                      </a:r>
                    </a:p>
                  </a:txBody>
                  <a:tcPr/>
                </a:tc>
                <a:tc>
                  <a:txBody>
                    <a:bodyPr/>
                    <a:lstStyle/>
                    <a:p>
                      <a:pPr algn="l"/>
                      <a:endParaRPr lang="it-IT" sz="1050" dirty="0"/>
                    </a:p>
                  </a:txBody>
                  <a:tcPr/>
                </a:tc>
                <a:tc>
                  <a:txBody>
                    <a:bodyPr/>
                    <a:lstStyle/>
                    <a:p>
                      <a:pPr algn="l"/>
                      <a:r>
                        <a:rPr lang="it-IT" sz="1050" b="1" dirty="0"/>
                        <a:t>YES</a:t>
                      </a:r>
                    </a:p>
                  </a:txBody>
                  <a:tcPr/>
                </a:tc>
                <a:tc>
                  <a:txBody>
                    <a:bodyPr/>
                    <a:lstStyle/>
                    <a:p>
                      <a:pPr algn="l"/>
                      <a:r>
                        <a:rPr lang="en-US" sz="1050" dirty="0"/>
                        <a:t>No concrete output mismatch is visible. The trace shows consistent request/reply interactions for all three clients, with each client sending 5 requests and receiving 5 replies. The computed product values in the replies match the input values in the corresponding requests, and the counts, pairing, and ordering are coherent with the exercise description.</a:t>
                      </a:r>
                      <a:endParaRPr lang="it-IT" sz="1050" dirty="0"/>
                    </a:p>
                  </a:txBody>
                  <a:tcPr/>
                </a:tc>
                <a:tc>
                  <a:txBody>
                    <a:bodyPr/>
                    <a:lstStyle/>
                    <a:p>
                      <a:pPr algn="l"/>
                      <a:r>
                        <a:rPr lang="it-IT" sz="1050" b="1" dirty="0"/>
                        <a:t>YES</a:t>
                      </a:r>
                    </a:p>
                  </a:txBody>
                  <a:tcPr/>
                </a:tc>
                <a:tc>
                  <a:txBody>
                    <a:bodyPr/>
                    <a:lstStyle/>
                    <a:p>
                      <a:pPr algn="l"/>
                      <a:r>
                        <a:rPr lang="en-US" sz="1050" dirty="0"/>
                        <a:t>No concrete correctness concrete defect is visible from the provided code and runtime context. The execution output matches the expected behavior described in the exercise, with correct message exchanges and computations. Mutex usage ensures mutual exclusion for the response queue, and all threads handle their tasks correctly."</a:t>
                      </a:r>
                      <a:endParaRPr lang="it-IT" sz="1050" dirty="0"/>
                    </a:p>
                  </a:txBody>
                  <a:tcPr/>
                </a:tc>
                <a:tc>
                  <a:txBody>
                    <a:bodyPr/>
                    <a:lstStyle/>
                    <a:p>
                      <a:pPr algn="l"/>
                      <a:r>
                        <a:rPr lang="it-IT" sz="1050" b="1" dirty="0"/>
                        <a:t>YES</a:t>
                      </a:r>
                      <a:r>
                        <a:rPr lang="it-IT" sz="1050" dirty="0"/>
                        <a:t>, </a:t>
                      </a:r>
                      <a:r>
                        <a:rPr lang="en-US" sz="1050" dirty="0"/>
                        <a:t>The diagnosis correctly states that no concrete output mismatch is visible and aligns with the ground truth, which confirms the output is correct. It does not invent any additional problems or contradict the ground truth.</a:t>
                      </a:r>
                      <a:endParaRPr lang="it-IT" sz="1050" dirty="0"/>
                    </a:p>
                  </a:txBody>
                  <a:tcPr/>
                </a:tc>
                <a:tc>
                  <a:txBody>
                    <a:bodyPr/>
                    <a:lstStyle/>
                    <a:p>
                      <a:pPr algn="l"/>
                      <a:r>
                        <a:rPr lang="it-IT" sz="1050" b="1" dirty="0"/>
                        <a:t>YES</a:t>
                      </a:r>
                      <a:r>
                        <a:rPr lang="it-IT" sz="1050" dirty="0"/>
                        <a:t>, </a:t>
                      </a:r>
                      <a:r>
                        <a:rPr lang="en-US" sz="1050" dirty="0"/>
                        <a:t>The diagnosis correctly states that no concrete correctness defect is visible, and the observed feedback confirms the code compiles and executes correctly. The diff shows only superficial differences (e.g., variable names, formatting) that do not constitute correctness violations. The diagnosis aligns with the rules and observed feedback.</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91778120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p:txBody>
          <a:bodyPr/>
          <a:lstStyle/>
          <a:p>
            <a:r>
              <a:rPr lang="it-IT" dirty="0"/>
              <a:t>Analisi effettuate, esercitazione 5</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330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4" y="1785046"/>
            <a:ext cx="6495838" cy="3897502"/>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dirty="0"/>
              <a:t>Static Failure - </a:t>
            </a:r>
            <a:r>
              <a:rPr lang="en-US" sz="3300" dirty="0" err="1"/>
              <a:t>Analisi</a:t>
            </a:r>
            <a:r>
              <a:rPr lang="en-US" sz="3300" dirty="0"/>
              <a:t> Output LLM </a:t>
            </a:r>
            <a:r>
              <a:rPr lang="en-US" sz="3300" dirty="0" err="1"/>
              <a:t>Primario</a:t>
            </a:r>
            <a:endParaRPr lang="en-US" sz="3300" dirty="0"/>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dirty="0"/>
              <a:t>Static Failure - </a:t>
            </a:r>
            <a:r>
              <a:rPr lang="en-US" sz="3900" dirty="0" err="1"/>
              <a:t>Analisi</a:t>
            </a:r>
            <a:r>
              <a:rPr lang="en-US" sz="3900" dirty="0"/>
              <a:t> </a:t>
            </a:r>
            <a:r>
              <a:rPr lang="en-US" sz="3900" dirty="0" err="1"/>
              <a:t>Codice</a:t>
            </a:r>
            <a:r>
              <a:rPr lang="en-US" sz="3900" dirty="0"/>
              <a:t> LLM </a:t>
            </a:r>
            <a:r>
              <a:rPr lang="en-US" sz="3900" dirty="0" err="1"/>
              <a:t>Primario</a:t>
            </a:r>
            <a:endParaRPr lang="it-IT" sz="3900" dirty="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737" r="1737"/>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9C38D-0D2D-02E4-ECD9-FA6D206127D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3CEC0C4-8781-1E0C-EC84-6735254B70DA}"/>
              </a:ext>
            </a:extLst>
          </p:cNvPr>
          <p:cNvSpPr>
            <a:spLocks noGrp="1"/>
          </p:cNvSpPr>
          <p:nvPr>
            <p:ph type="title"/>
          </p:nvPr>
        </p:nvSpPr>
        <p:spPr>
          <a:xfrm>
            <a:off x="455192" y="169604"/>
            <a:ext cx="9733836" cy="1400530"/>
          </a:xfrm>
        </p:spPr>
        <p:txBody>
          <a:bodyPr/>
          <a:lstStyle/>
          <a:p>
            <a:r>
              <a:rPr lang="it-IT" dirty="0"/>
              <a:t>Distribuzione per </a:t>
            </a:r>
            <a:r>
              <a:rPr lang="it-IT" dirty="0" err="1"/>
              <a:t>failure</a:t>
            </a:r>
            <a:r>
              <a:rPr lang="it-IT" dirty="0"/>
              <a:t> </a:t>
            </a:r>
            <a:r>
              <a:rPr lang="it-IT" dirty="0" err="1"/>
              <a:t>category</a:t>
            </a:r>
            <a:r>
              <a:rPr lang="it-IT" dirty="0"/>
              <a:t>, tutti </a:t>
            </a:r>
            <a:r>
              <a:rPr lang="it-IT" dirty="0" err="1"/>
              <a:t>commit</a:t>
            </a:r>
            <a:r>
              <a:rPr lang="it-IT" dirty="0"/>
              <a:t>, esercitazione 4</a:t>
            </a:r>
          </a:p>
        </p:txBody>
      </p:sp>
      <p:pic>
        <p:nvPicPr>
          <p:cNvPr id="9" name="Segnaposto contenuto 8">
            <a:extLst>
              <a:ext uri="{FF2B5EF4-FFF2-40B4-BE49-F238E27FC236}">
                <a16:creationId xmlns:a16="http://schemas.microsoft.com/office/drawing/2014/main" id="{53B658BB-E887-3D8C-E997-E3E9DB9EC58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3973902408"/>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13154</TotalTime>
  <Words>3304</Words>
  <Application>Microsoft Office PowerPoint</Application>
  <PresentationFormat>Widescreen</PresentationFormat>
  <Paragraphs>244</Paragraphs>
  <Slides>16</Slides>
  <Notes>0</Notes>
  <HiddenSlides>0</HiddenSlides>
  <MMClips>0</MMClips>
  <ScaleCrop>false</ScaleCrop>
  <HeadingPairs>
    <vt:vector size="6" baseType="variant">
      <vt:variant>
        <vt:lpstr>Caratteri utilizzati</vt:lpstr>
      </vt:variant>
      <vt:variant>
        <vt:i4>6</vt:i4>
      </vt:variant>
      <vt:variant>
        <vt:lpstr>Tema</vt:lpstr>
      </vt:variant>
      <vt:variant>
        <vt:i4>2</vt:i4>
      </vt:variant>
      <vt:variant>
        <vt:lpstr>Titoli diapositive</vt:lpstr>
      </vt:variant>
      <vt:variant>
        <vt:i4>16</vt:i4>
      </vt:variant>
    </vt:vector>
  </HeadingPairs>
  <TitlesOfParts>
    <vt:vector size="24" baseType="lpstr">
      <vt:lpstr>Aptos</vt:lpstr>
      <vt:lpstr>Arial</vt:lpstr>
      <vt:lpstr>Bahnschrift</vt:lpstr>
      <vt:lpstr>Bahnschrift Light</vt:lpstr>
      <vt:lpstr>Century Gothic</vt:lpstr>
      <vt:lpstr>Wingdings 3</vt:lpstr>
      <vt:lpstr>Ione</vt:lpstr>
      <vt:lpstr>NewYork</vt:lpstr>
      <vt:lpstr>LLM PER SO ESPERIMENTO 1.0 (ES.5 + Distribuzione es4)</vt:lpstr>
      <vt:lpstr>Esempio di risultato (dynamic_failure):</vt:lpstr>
      <vt:lpstr>Esempio di risultato (timeout):</vt:lpstr>
      <vt:lpstr>Esempio di risultato (dynamic_failure):</vt:lpstr>
      <vt:lpstr>Esempio di risultato (static_failure):</vt:lpstr>
      <vt:lpstr>Esempio di risultato (static_failure):</vt:lpstr>
      <vt:lpstr>Esempio di risultato (correct):</vt:lpstr>
      <vt:lpstr>Analisi effettuate, esercitazione 5</vt:lpstr>
      <vt:lpstr>Distribuzione per failure category</vt:lpstr>
      <vt:lpstr>Dynamic Failure - Analisi Output LLM Primario </vt:lpstr>
      <vt:lpstr>Dynamic Failure - Analisi Codice LLM Primario </vt:lpstr>
      <vt:lpstr>Static Failure - Analisi Output LLM Primario</vt:lpstr>
      <vt:lpstr>Static Failure - Analisi Codice LLM Primario</vt:lpstr>
      <vt:lpstr>Corretti- Analisi Output LLM Primario (falsi positivi)</vt:lpstr>
      <vt:lpstr>Corretti- Analisi Codice LLM Primario (falsi positivi)</vt:lpstr>
      <vt:lpstr>Distribuzione per failure category, tutti commit, esercitazione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2026-04-20T15:45:31Z</dcterms:modified>
</cp:coreProperties>
</file>