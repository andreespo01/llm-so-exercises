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2" r:id="rId1"/>
    <p:sldMasterId id="2147483660" r:id="rId2"/>
  </p:sldMasterIdLst>
  <p:notesMasterIdLst>
    <p:notesMasterId r:id="rId21"/>
  </p:notesMasterIdLst>
  <p:sldIdLst>
    <p:sldId id="257" r:id="rId3"/>
    <p:sldId id="307" r:id="rId4"/>
    <p:sldId id="320" r:id="rId5"/>
    <p:sldId id="313" r:id="rId6"/>
    <p:sldId id="314" r:id="rId7"/>
    <p:sldId id="317" r:id="rId8"/>
    <p:sldId id="312" r:id="rId9"/>
    <p:sldId id="315" r:id="rId10"/>
    <p:sldId id="318" r:id="rId11"/>
    <p:sldId id="311" r:id="rId12"/>
    <p:sldId id="316" r:id="rId13"/>
    <p:sldId id="319" r:id="rId14"/>
    <p:sldId id="308" r:id="rId15"/>
    <p:sldId id="309" r:id="rId16"/>
    <p:sldId id="310" r:id="rId17"/>
    <p:sldId id="301" r:id="rId18"/>
    <p:sldId id="302" r:id="rId19"/>
    <p:sldId id="300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Stile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Esposito" userId="af663d4e0f6c8da9" providerId="LiveId" clId="{262502FB-FC54-43DB-AB78-73175A28E98A}"/>
    <pc:docChg chg="modSld">
      <pc:chgData name="Andrea Esposito" userId="af663d4e0f6c8da9" providerId="LiveId" clId="{262502FB-FC54-43DB-AB78-73175A28E98A}" dt="2026-04-28T15:54:31.374" v="12" actId="1076"/>
      <pc:docMkLst>
        <pc:docMk/>
      </pc:docMkLst>
      <pc:sldChg chg="modSp mod">
        <pc:chgData name="Andrea Esposito" userId="af663d4e0f6c8da9" providerId="LiveId" clId="{262502FB-FC54-43DB-AB78-73175A28E98A}" dt="2026-04-28T15:54:31.374" v="12" actId="1076"/>
        <pc:sldMkLst>
          <pc:docMk/>
          <pc:sldMk cId="3067700186" sldId="320"/>
        </pc:sldMkLst>
        <pc:picChg chg="mod">
          <ac:chgData name="Andrea Esposito" userId="af663d4e0f6c8da9" providerId="LiveId" clId="{262502FB-FC54-43DB-AB78-73175A28E98A}" dt="2026-04-28T15:54:31.374" v="12" actId="1076"/>
          <ac:picMkLst>
            <pc:docMk/>
            <pc:sldMk cId="3067700186" sldId="320"/>
            <ac:picMk id="6" creationId="{E16B3DE7-0995-AD86-5A57-46038BE2A9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AB00D7-A12E-4179-B4FE-A225F398F237}" type="datetimeFigureOut">
              <a:rPr lang="it-IT" smtClean="0"/>
              <a:t>28/04/2026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78ED9-3A5F-4DBF-BCF4-7D8596C097D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365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7.jpeg"/><Relationship Id="rId5" Type="http://schemas.openxmlformats.org/officeDocument/2006/relationships/image" Target="../media/image6.svg"/><Relationship Id="rId4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4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63732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40190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42382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42902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6422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17005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84199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03015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779998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836460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180846"/>
      </p:ext>
    </p:extLst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04865668"/>
      </p:ext>
    </p:extLst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573745"/>
      </p:ext>
    </p:extLst>
  </p:cSld>
  <p:clrMapOvr>
    <a:masterClrMapping/>
  </p:clrMapOvr>
  <p:transition spd="slow">
    <p:wip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861816"/>
      </p:ext>
    </p:extLst>
  </p:cSld>
  <p:clrMapOvr>
    <a:masterClrMapping/>
  </p:clrMapOvr>
  <p:transition spd="slow">
    <p:wip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045967"/>
      </p:ext>
    </p:extLst>
  </p:cSld>
  <p:clrMapOvr>
    <a:masterClrMapping/>
  </p:clrMapOvr>
  <p:transition spd="slow">
    <p:wip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124525"/>
      </p:ext>
    </p:extLst>
  </p:cSld>
  <p:clrMapOvr>
    <a:masterClrMapping/>
  </p:clrMapOvr>
  <p:transition spd="slow">
    <p:wip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792622"/>
      </p:ext>
    </p:extLst>
  </p:cSld>
  <p:clrMapOvr>
    <a:masterClrMapping/>
  </p:clrMapOvr>
  <p:transition spd="slow">
    <p:wip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ImageColumn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F9BDAF-97BD-B7E8-E596-FA7F78EF37EB}"/>
              </a:ext>
            </a:extLst>
          </p:cNvPr>
          <p:cNvSpPr/>
          <p:nvPr userDrawn="1"/>
        </p:nvSpPr>
        <p:spPr>
          <a:xfrm>
            <a:off x="10082990" y="0"/>
            <a:ext cx="2109010" cy="2109010"/>
          </a:xfrm>
          <a:custGeom>
            <a:avLst/>
            <a:gdLst>
              <a:gd name="connsiteX0" fmla="*/ 0 w 2109010"/>
              <a:gd name="connsiteY0" fmla="*/ 0 h 2109010"/>
              <a:gd name="connsiteX1" fmla="*/ 765781 w 2109010"/>
              <a:gd name="connsiteY1" fmla="*/ 0 h 2109010"/>
              <a:gd name="connsiteX2" fmla="*/ 2109009 w 2109010"/>
              <a:gd name="connsiteY2" fmla="*/ 1343228 h 2109010"/>
              <a:gd name="connsiteX3" fmla="*/ 2109010 w 2109010"/>
              <a:gd name="connsiteY3" fmla="*/ 1343228 h 2109010"/>
              <a:gd name="connsiteX4" fmla="*/ 2109010 w 2109010"/>
              <a:gd name="connsiteY4" fmla="*/ 2109010 h 2109010"/>
              <a:gd name="connsiteX5" fmla="*/ 0 w 2109010"/>
              <a:gd name="connsiteY5" fmla="*/ 0 h 2109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9010" h="2109010">
                <a:moveTo>
                  <a:pt x="0" y="0"/>
                </a:moveTo>
                <a:lnTo>
                  <a:pt x="765781" y="0"/>
                </a:lnTo>
                <a:cubicBezTo>
                  <a:pt x="765781" y="741844"/>
                  <a:pt x="1367165" y="1343228"/>
                  <a:pt x="2109009" y="1343228"/>
                </a:cubicBezTo>
                <a:lnTo>
                  <a:pt x="2109010" y="1343228"/>
                </a:lnTo>
                <a:lnTo>
                  <a:pt x="2109010" y="2109010"/>
                </a:lnTo>
                <a:cubicBezTo>
                  <a:pt x="944236" y="2109010"/>
                  <a:pt x="0" y="1164774"/>
                  <a:pt x="0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F736408-7033-3DEF-7582-9C6C1B69B271}"/>
              </a:ext>
            </a:extLst>
          </p:cNvPr>
          <p:cNvSpPr>
            <a:spLocks noGrp="1"/>
          </p:cNvSpPr>
          <p:nvPr>
            <p:ph type="body" idx="26"/>
            <p:custDataLst>
              <p:tags r:id="rId1"/>
            </p:custDataLst>
          </p:nvPr>
        </p:nvSpPr>
        <p:spPr>
          <a:xfrm>
            <a:off x="588000" y="5858302"/>
            <a:ext cx="11016000" cy="415498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35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ru-RU" dirty="0"/>
          </a:p>
        </p:txBody>
      </p:sp>
      <p:sp>
        <p:nvSpPr>
          <p:cNvPr id="5" name="Subtitle Placeholder">
            <a:extLst>
              <a:ext uri="{FF2B5EF4-FFF2-40B4-BE49-F238E27FC236}">
                <a16:creationId xmlns:a16="http://schemas.microsoft.com/office/drawing/2014/main" id="{7C98F59F-A6C9-2B50-6862-5346466525A4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97207" y="1309407"/>
            <a:ext cx="11007418" cy="276999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 sz="2000" spc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  <a:endParaRPr lang="ru-RU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79F6F6C-B0C0-FD55-BA23-AAC3C485E66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587375" y="1802406"/>
            <a:ext cx="11017250" cy="3839898"/>
          </a:xfrm>
          <a:prstGeom prst="round2SameRect">
            <a:avLst>
              <a:gd name="adj1" fmla="val 11543"/>
              <a:gd name="adj2" fmla="val 0"/>
            </a:avLst>
          </a:prstGeom>
        </p:spPr>
        <p:txBody>
          <a:bodyPr/>
          <a:lstStyle/>
          <a:p>
            <a:endParaRPr lang="ru-RU"/>
          </a:p>
        </p:txBody>
      </p:sp>
      <p:pic>
        <p:nvPicPr>
          <p:cNvPr id="2" name="Graphic" descr="Портфель со сплошной заливкой">
            <a:extLst>
              <a:ext uri="{FF2B5EF4-FFF2-40B4-BE49-F238E27FC236}">
                <a16:creationId xmlns:a16="http://schemas.microsoft.com/office/drawing/2014/main" id="{989A2208-4E6D-1AD6-32D2-AB05C3649B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4328" y="480357"/>
            <a:ext cx="360000" cy="360000"/>
          </a:xfrm>
          <a:prstGeom prst="rect">
            <a:avLst/>
          </a:prstGeom>
        </p:spPr>
      </p:pic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1D2D3368-569E-CC8A-A8A7-FA642F931BBB}"/>
              </a:ext>
            </a:extLst>
          </p:cNvPr>
          <p:cNvSpPr>
            <a:spLocks noGrp="1"/>
          </p:cNvSpPr>
          <p:nvPr>
            <p:ph type="body" sz="quarter" idx="22" hasCustomPrompt="1"/>
            <p:custDataLst>
              <p:tags r:id="rId3"/>
            </p:custDataLst>
          </p:nvPr>
        </p:nvSpPr>
        <p:spPr>
          <a:xfrm>
            <a:off x="1087588" y="572328"/>
            <a:ext cx="4900462" cy="20774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>
                <a:solidFill>
                  <a:schemeClr val="tx1">
                    <a:alpha val="35000"/>
                  </a:schemeClr>
                </a:solidFill>
              </a:defRPr>
            </a:lvl1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Footer Placeholder</a:t>
            </a:r>
            <a:endParaRPr lang="ru-RU" dirty="0"/>
          </a:p>
        </p:txBody>
      </p:sp>
      <p:pic>
        <p:nvPicPr>
          <p:cNvPr id="8" name="Free Badge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26400" y="6429600"/>
            <a:ext cx="1134000" cy="27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196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49AF0BE-EA0C-C2AF-FCBA-EAA6664E50DD}"/>
              </a:ext>
            </a:extLst>
          </p:cNvPr>
          <p:cNvSpPr/>
          <p:nvPr userDrawn="1"/>
        </p:nvSpPr>
        <p:spPr>
          <a:xfrm>
            <a:off x="10082990" y="0"/>
            <a:ext cx="2109010" cy="2109010"/>
          </a:xfrm>
          <a:custGeom>
            <a:avLst/>
            <a:gdLst>
              <a:gd name="connsiteX0" fmla="*/ 0 w 2109010"/>
              <a:gd name="connsiteY0" fmla="*/ 0 h 2109010"/>
              <a:gd name="connsiteX1" fmla="*/ 765781 w 2109010"/>
              <a:gd name="connsiteY1" fmla="*/ 0 h 2109010"/>
              <a:gd name="connsiteX2" fmla="*/ 2109009 w 2109010"/>
              <a:gd name="connsiteY2" fmla="*/ 1343228 h 2109010"/>
              <a:gd name="connsiteX3" fmla="*/ 2109010 w 2109010"/>
              <a:gd name="connsiteY3" fmla="*/ 1343228 h 2109010"/>
              <a:gd name="connsiteX4" fmla="*/ 2109010 w 2109010"/>
              <a:gd name="connsiteY4" fmla="*/ 2109010 h 2109010"/>
              <a:gd name="connsiteX5" fmla="*/ 0 w 2109010"/>
              <a:gd name="connsiteY5" fmla="*/ 0 h 2109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9010" h="2109010">
                <a:moveTo>
                  <a:pt x="0" y="0"/>
                </a:moveTo>
                <a:lnTo>
                  <a:pt x="765781" y="0"/>
                </a:lnTo>
                <a:cubicBezTo>
                  <a:pt x="765781" y="741844"/>
                  <a:pt x="1367165" y="1343228"/>
                  <a:pt x="2109009" y="1343228"/>
                </a:cubicBezTo>
                <a:lnTo>
                  <a:pt x="2109010" y="1343228"/>
                </a:lnTo>
                <a:lnTo>
                  <a:pt x="2109010" y="2109010"/>
                </a:lnTo>
                <a:cubicBezTo>
                  <a:pt x="944236" y="2109010"/>
                  <a:pt x="0" y="1164774"/>
                  <a:pt x="0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pic>
        <p:nvPicPr>
          <p:cNvPr id="6" name="Graphic" descr="Портфель со сплошной заливкой">
            <a:extLst>
              <a:ext uri="{FF2B5EF4-FFF2-40B4-BE49-F238E27FC236}">
                <a16:creationId xmlns:a16="http://schemas.microsoft.com/office/drawing/2014/main" id="{1D2A880B-8363-6BB1-EDBC-9D9AC3A0FD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4328" y="480357"/>
            <a:ext cx="360000" cy="360000"/>
          </a:xfrm>
          <a:prstGeom prst="rect">
            <a:avLst/>
          </a:prstGeom>
        </p:spPr>
      </p:pic>
      <p:sp>
        <p:nvSpPr>
          <p:cNvPr id="4" name="Subtitle Placeholder">
            <a:extLst>
              <a:ext uri="{FF2B5EF4-FFF2-40B4-BE49-F238E27FC236}">
                <a16:creationId xmlns:a16="http://schemas.microsoft.com/office/drawing/2014/main" id="{4B9E17C6-8EFF-03D0-72BA-CAC2B146B711}"/>
              </a:ext>
            </a:extLst>
          </p:cNvPr>
          <p:cNvSpPr>
            <a:spLocks noGrp="1"/>
          </p:cNvSpPr>
          <p:nvPr>
            <p:ph type="body" idx="26" hasCustomPrompt="1"/>
            <p:custDataLst>
              <p:tags r:id="rId1"/>
            </p:custDataLst>
          </p:nvPr>
        </p:nvSpPr>
        <p:spPr>
          <a:xfrm>
            <a:off x="561811" y="1065937"/>
            <a:ext cx="11007418" cy="525886"/>
          </a:xfrm>
        </p:spPr>
        <p:txBody>
          <a:bodyPr wrap="square" lIns="36000" tIns="0" rIns="0" bIns="216000" anchor="t" anchorCtr="0">
            <a:spAutoFit/>
          </a:bodyPr>
          <a:lstStyle>
            <a:lvl1pPr marL="0" indent="0" algn="l">
              <a:spcBef>
                <a:spcPts val="600"/>
              </a:spcBef>
              <a:buNone/>
              <a:defRPr sz="2000" spc="0" baseline="0">
                <a:solidFill>
                  <a:schemeClr val="tx1"/>
                </a:solidFill>
                <a:latin typeface="Bahnschrif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Name Date Placeholder">
            <a:extLst>
              <a:ext uri="{FF2B5EF4-FFF2-40B4-BE49-F238E27FC236}">
                <a16:creationId xmlns:a16="http://schemas.microsoft.com/office/drawing/2014/main" id="{C28C2C46-CCA7-9BC1-5A92-7E912F07ED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87588" y="572328"/>
            <a:ext cx="7708750" cy="20774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>
                <a:solidFill>
                  <a:schemeClr val="tx1">
                    <a:alpha val="35000"/>
                  </a:schemeClr>
                </a:solidFill>
              </a:defRPr>
            </a:lvl1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ru-RU" dirty="0"/>
          </a:p>
        </p:txBody>
      </p:sp>
      <p:sp>
        <p:nvSpPr>
          <p:cNvPr id="5" name="Picture 19">
            <a:extLst>
              <a:ext uri="{FF2B5EF4-FFF2-40B4-BE49-F238E27FC236}">
                <a16:creationId xmlns:a16="http://schemas.microsoft.com/office/drawing/2014/main" id="{3133F166-DAE8-2B28-90E9-242BCBB4093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87375" y="3077439"/>
            <a:ext cx="11017250" cy="3780560"/>
          </a:xfrm>
          <a:prstGeom prst="round2SameRect">
            <a:avLst>
              <a:gd name="adj1" fmla="val 13573"/>
              <a:gd name="adj2" fmla="val 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381312CE-2C3B-2F5A-EA24-F624616A4902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61811" y="1605712"/>
            <a:ext cx="11007418" cy="125572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 algn="l">
              <a:lnSpc>
                <a:spcPct val="85000"/>
              </a:lnSpc>
              <a:defRPr sz="4800" b="1" spc="0">
                <a:solidFill>
                  <a:schemeClr val="tx1"/>
                </a:solidFill>
                <a:latin typeface="Bahnschrift" panose="020B0502040204020203" pitchFamily="34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  <a:r>
              <a:rPr lang="ru-RU" dirty="0"/>
              <a:t> </a:t>
            </a:r>
            <a:r>
              <a:rPr lang="en-US" dirty="0"/>
              <a:t>STYLES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0965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5" Type="http://schemas.openxmlformats.org/officeDocument/2006/relationships/tags" Target="../tags/tag2.xml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1E45834-53BD-4C8F-B791-CD5378F4150E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9D7796-F675-488F-AC46-C88938C8035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8989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ransition spd="slow">
    <p:wipe/>
  </p:transition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DBC626-9493-4173-4785-B4E4251F3E7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97207" y="566333"/>
            <a:ext cx="11007418" cy="75713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C0C7E-C392-88D5-6F37-5427AF82E737}"/>
              </a:ext>
            </a:extLst>
          </p:cNvPr>
          <p:cNvSpPr>
            <a:spLocks noGrp="1"/>
          </p:cNvSpPr>
          <p:nvPr>
            <p:ph type="body" idx="1"/>
            <p:custDataLst>
              <p:tags r:id="rId5"/>
            </p:custDataLst>
          </p:nvPr>
        </p:nvSpPr>
        <p:spPr>
          <a:xfrm>
            <a:off x="597207" y="1825625"/>
            <a:ext cx="110074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E09F05A8-3E39-B0B1-3CD9-3F55B5F2E712}"/>
              </a:ext>
            </a:extLst>
          </p:cNvPr>
          <p:cNvSpPr txBox="1">
            <a:spLocks/>
          </p:cNvSpPr>
          <p:nvPr userDrawn="1"/>
        </p:nvSpPr>
        <p:spPr>
          <a:xfrm>
            <a:off x="11000187" y="572328"/>
            <a:ext cx="594606" cy="20005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F6F24BE-8BEB-403A-BDCC-38E201D0662D}" type="slidenum">
              <a:rPr lang="en-ID" smtClean="0">
                <a:solidFill>
                  <a:schemeClr val="tx1">
                    <a:alpha val="35000"/>
                  </a:schemeClr>
                </a:solidFill>
              </a:rPr>
              <a:pPr/>
              <a:t>‹N›</a:t>
            </a:fld>
            <a:endParaRPr lang="en-ID" dirty="0">
              <a:solidFill>
                <a:schemeClr val="tx1">
                  <a:alpha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50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6" r:id="rId1"/>
    <p:sldLayoutId id="2147483871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spc="-8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70" userDrawn="1">
          <p15:clr>
            <a:srgbClr val="F26B43"/>
          </p15:clr>
        </p15:guide>
        <p15:guide id="4" pos="7310" userDrawn="1">
          <p15:clr>
            <a:srgbClr val="F26B43"/>
          </p15:clr>
        </p15:guide>
        <p15:guide id="5" orient="horz" pos="368" userDrawn="1">
          <p15:clr>
            <a:srgbClr val="F26B43"/>
          </p15:clr>
        </p15:guide>
        <p15:guide id="6" orient="horz" pos="3952" userDrawn="1">
          <p15:clr>
            <a:srgbClr val="F26B43"/>
          </p15:clr>
        </p15:guide>
        <p15:guide id="12" pos="2003" userDrawn="1">
          <p15:clr>
            <a:srgbClr val="A4A3A4"/>
          </p15:clr>
        </p15:guide>
        <p15:guide id="13" pos="2139" userDrawn="1">
          <p15:clr>
            <a:srgbClr val="A4A3A4"/>
          </p15:clr>
        </p15:guide>
        <p15:guide id="14" pos="5541" userDrawn="1">
          <p15:clr>
            <a:srgbClr val="A4A3A4"/>
          </p15:clr>
        </p15:guide>
        <p15:guide id="15" pos="5677" userDrawn="1">
          <p15:clr>
            <a:srgbClr val="A4A3A4"/>
          </p15:clr>
        </p15:guide>
        <p15:guide id="16" pos="3772" userDrawn="1">
          <p15:clr>
            <a:srgbClr val="A4A3A4"/>
          </p15:clr>
        </p15:guide>
        <p15:guide id="17" pos="3908" userDrawn="1">
          <p15:clr>
            <a:srgbClr val="A4A3A4"/>
          </p15:clr>
        </p15:guide>
        <p15:guide id="18" pos="2593" userDrawn="1">
          <p15:clr>
            <a:srgbClr val="9FCC3B"/>
          </p15:clr>
        </p15:guide>
        <p15:guide id="19" pos="2729" userDrawn="1">
          <p15:clr>
            <a:srgbClr val="9FCC3B"/>
          </p15:clr>
        </p15:guide>
        <p15:guide id="20" pos="4951" userDrawn="1">
          <p15:clr>
            <a:srgbClr val="9FCC3B"/>
          </p15:clr>
        </p15:guide>
        <p15:guide id="21" pos="5087" userDrawn="1">
          <p15:clr>
            <a:srgbClr val="9FCC3B"/>
          </p15:clr>
        </p15:guide>
        <p15:guide id="22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228C0E-4B44-AE91-0AC0-2C2B2924078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6589F58-A08D-CE97-7557-37E4EE6401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354" y="641546"/>
            <a:ext cx="11723833" cy="4564027"/>
          </a:xfrm>
        </p:spPr>
        <p:txBody>
          <a:bodyPr anchor="t">
            <a:normAutofit fontScale="90000"/>
          </a:bodyPr>
          <a:lstStyle/>
          <a:p>
            <a:r>
              <a:rPr lang="it-IT" sz="8000" dirty="0">
                <a:solidFill>
                  <a:srgbClr val="FFFFFF"/>
                </a:solidFill>
              </a:rPr>
              <a:t>LLM PER SO</a:t>
            </a:r>
            <a:br>
              <a:rPr lang="it-IT" sz="8000" dirty="0">
                <a:solidFill>
                  <a:srgbClr val="FFFFFF"/>
                </a:solidFill>
              </a:rPr>
            </a:br>
            <a:r>
              <a:rPr lang="it-IT" sz="8000" dirty="0">
                <a:solidFill>
                  <a:srgbClr val="FFFFFF"/>
                </a:solidFill>
              </a:rPr>
              <a:t>ESPERIMENTO 1.0</a:t>
            </a:r>
            <a:br>
              <a:rPr lang="it-IT" sz="8000" dirty="0">
                <a:solidFill>
                  <a:srgbClr val="FFFFFF"/>
                </a:solidFill>
              </a:rPr>
            </a:br>
            <a:r>
              <a:rPr lang="it-IT" sz="8000" dirty="0">
                <a:solidFill>
                  <a:srgbClr val="FFFFFF"/>
                </a:solidFill>
              </a:rPr>
              <a:t>(Risultati analisi su tutti </a:t>
            </a:r>
            <a:r>
              <a:rPr lang="it-IT" sz="8000" dirty="0" err="1">
                <a:solidFill>
                  <a:srgbClr val="FFFFFF"/>
                </a:solidFill>
              </a:rPr>
              <a:t>commit</a:t>
            </a:r>
            <a:r>
              <a:rPr lang="it-IT" sz="8000" dirty="0">
                <a:solidFill>
                  <a:srgbClr val="FFFFFF"/>
                </a:solidFill>
              </a:rPr>
              <a:t>)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E09D758-365D-156A-5234-C3086A4902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1949" y="4953406"/>
            <a:ext cx="9257512" cy="1263047"/>
          </a:xfrm>
        </p:spPr>
        <p:txBody>
          <a:bodyPr anchor="b">
            <a:normAutofit/>
          </a:bodyPr>
          <a:lstStyle/>
          <a:p>
            <a:r>
              <a:rPr lang="it-IT" dirty="0">
                <a:solidFill>
                  <a:srgbClr val="FFFFFF"/>
                </a:solidFill>
              </a:rPr>
              <a:t>Tesi di laurea magistrale in Software Security </a:t>
            </a:r>
          </a:p>
          <a:p>
            <a:r>
              <a:rPr lang="it-IT" dirty="0">
                <a:solidFill>
                  <a:srgbClr val="FFFFFF"/>
                </a:solidFill>
              </a:rPr>
              <a:t>Andrea Esposito, M63001650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F7A069C-CC32-2115-EB4B-3687677A3594}"/>
              </a:ext>
            </a:extLst>
          </p:cNvPr>
          <p:cNvSpPr txBox="1"/>
          <p:nvPr/>
        </p:nvSpPr>
        <p:spPr>
          <a:xfrm>
            <a:off x="8904093" y="5847121"/>
            <a:ext cx="3101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(27/04/2026)</a:t>
            </a:r>
          </a:p>
        </p:txBody>
      </p:sp>
    </p:spTree>
    <p:extLst>
      <p:ext uri="{BB962C8B-B14F-4D97-AF65-F5344CB8AC3E}">
        <p14:creationId xmlns:p14="http://schemas.microsoft.com/office/powerpoint/2010/main" val="1263488033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25D6AF-97F3-F45D-0932-B74C49DB5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175631" cy="1400530"/>
          </a:xfrm>
        </p:spPr>
        <p:txBody>
          <a:bodyPr/>
          <a:lstStyle/>
          <a:p>
            <a:r>
              <a:rPr lang="it-IT" dirty="0"/>
              <a:t>Analisi effettuate (su tutti i </a:t>
            </a:r>
            <a:r>
              <a:rPr lang="it-IT" dirty="0" err="1"/>
              <a:t>commit</a:t>
            </a:r>
            <a:r>
              <a:rPr lang="it-IT" dirty="0"/>
              <a:t> con modifiche)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CA241B-D2E5-3495-5374-A9041F696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01" y="2209801"/>
            <a:ext cx="8946541" cy="4195481"/>
          </a:xfrm>
        </p:spPr>
        <p:txBody>
          <a:bodyPr/>
          <a:lstStyle/>
          <a:p>
            <a:r>
              <a:rPr lang="it-IT" dirty="0"/>
              <a:t>Grafico aggregato su tutte le esercitazioni.</a:t>
            </a:r>
          </a:p>
          <a:p>
            <a:r>
              <a:rPr lang="it-IT" dirty="0"/>
              <a:t>Grafico distribuzione </a:t>
            </a:r>
            <a:r>
              <a:rPr lang="it-IT" dirty="0" err="1"/>
              <a:t>failure</a:t>
            </a:r>
            <a:r>
              <a:rPr lang="it-IT" dirty="0"/>
              <a:t> </a:t>
            </a:r>
            <a:r>
              <a:rPr lang="it-IT" dirty="0" err="1"/>
              <a:t>category</a:t>
            </a:r>
            <a:r>
              <a:rPr lang="it-IT" dirty="0"/>
              <a:t> per esercitazione.</a:t>
            </a:r>
          </a:p>
          <a:p>
            <a:r>
              <a:rPr lang="it-IT" dirty="0"/>
              <a:t>Calcolo statistiche per esercitazione ed esercizi.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74836456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319650-7CB4-B078-6BE4-9492FE922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599" y="479402"/>
            <a:ext cx="9767889" cy="532802"/>
          </a:xfrm>
        </p:spPr>
        <p:txBody>
          <a:bodyPr/>
          <a:lstStyle/>
          <a:p>
            <a:r>
              <a:rPr lang="it-IT" sz="2800" dirty="0"/>
              <a:t>Analisi aggregata su tutte le esercitazioni</a:t>
            </a:r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E16B3DE7-0995-AD86-5A57-46038BE2A9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753" y="1817317"/>
            <a:ext cx="11892493" cy="386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700186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B2412-EE17-6C2B-537F-27909C88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3A2659-CA5D-FF8F-7456-A595B80BA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Statistiche esercitazione 1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143F55-3CB2-420D-7531-7040D066A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0015" y="1853248"/>
            <a:ext cx="8513754" cy="4001729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studenti con almeno 1 </a:t>
            </a:r>
            <a:r>
              <a:rPr lang="it-IT" dirty="0" err="1"/>
              <a:t>commit</a:t>
            </a:r>
            <a:r>
              <a:rPr lang="it-IT" dirty="0"/>
              <a:t>: 132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</a:t>
            </a:r>
            <a:r>
              <a:rPr lang="it-IT" dirty="0" err="1"/>
              <a:t>commit</a:t>
            </a:r>
            <a:r>
              <a:rPr lang="it-IT" dirty="0"/>
              <a:t> </a:t>
            </a:r>
            <a:r>
              <a:rPr lang="it-IT" dirty="0" err="1"/>
              <a:t>git</a:t>
            </a:r>
            <a:r>
              <a:rPr lang="it-IT" dirty="0"/>
              <a:t>: 1431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modifiche agli esercizi: 1488 (NB. Il numero totale di modifiche agli esercizi è maggiore del numero di </a:t>
            </a:r>
            <a:r>
              <a:rPr lang="it-IT" dirty="0" err="1"/>
              <a:t>commit</a:t>
            </a:r>
            <a:r>
              <a:rPr lang="it-IT" dirty="0"/>
              <a:t> perché un singolo </a:t>
            </a:r>
            <a:r>
              <a:rPr lang="it-IT" dirty="0" err="1"/>
              <a:t>commit</a:t>
            </a:r>
            <a:r>
              <a:rPr lang="it-IT" dirty="0"/>
              <a:t> può modificare più esercizi. Nel dataset, ogni coppia (</a:t>
            </a:r>
            <a:r>
              <a:rPr lang="it-IT" dirty="0" err="1"/>
              <a:t>commit</a:t>
            </a:r>
            <a:r>
              <a:rPr lang="it-IT" dirty="0"/>
              <a:t>, esercizio) viene considerata come una modifica distinta.)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modifiche analizzate tramite LLM: X</a:t>
            </a:r>
          </a:p>
        </p:txBody>
      </p:sp>
    </p:spTree>
    <p:extLst>
      <p:ext uri="{BB962C8B-B14F-4D97-AF65-F5344CB8AC3E}">
        <p14:creationId xmlns:p14="http://schemas.microsoft.com/office/powerpoint/2010/main" val="2557258596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EA667-5905-C803-FD29-6C45B71E2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3FC865-6F53-295A-E787-8478E6C94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92" y="122904"/>
            <a:ext cx="9404723" cy="722670"/>
          </a:xfrm>
        </p:spPr>
        <p:txBody>
          <a:bodyPr/>
          <a:lstStyle/>
          <a:p>
            <a:r>
              <a:rPr lang="it-IT" dirty="0"/>
              <a:t>Statistiche per esercizio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2FE847-39E5-A9B0-F8BE-3DCED17A9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92" y="845574"/>
            <a:ext cx="11864723" cy="5322971"/>
          </a:xfrm>
        </p:spPr>
        <p:txBody>
          <a:bodyPr/>
          <a:lstStyle/>
          <a:p>
            <a:r>
              <a:rPr lang="it-IT" dirty="0"/>
              <a:t>Tabella categorie di fallimento per esercizio: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D5B2547-4E96-B5E4-4ACD-66BAA9D6F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836259"/>
              </p:ext>
            </p:extLst>
          </p:nvPr>
        </p:nvGraphicFramePr>
        <p:xfrm>
          <a:off x="404531" y="1412124"/>
          <a:ext cx="11607675" cy="533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1308">
                  <a:extLst>
                    <a:ext uri="{9D8B030D-6E8A-4147-A177-3AD203B41FA5}">
                      <a16:colId xmlns:a16="http://schemas.microsoft.com/office/drawing/2014/main" val="2488145324"/>
                    </a:ext>
                  </a:extLst>
                </a:gridCol>
                <a:gridCol w="949481">
                  <a:extLst>
                    <a:ext uri="{9D8B030D-6E8A-4147-A177-3AD203B41FA5}">
                      <a16:colId xmlns:a16="http://schemas.microsoft.com/office/drawing/2014/main" val="3865172330"/>
                    </a:ext>
                  </a:extLst>
                </a:gridCol>
                <a:gridCol w="949481">
                  <a:extLst>
                    <a:ext uri="{9D8B030D-6E8A-4147-A177-3AD203B41FA5}">
                      <a16:colId xmlns:a16="http://schemas.microsoft.com/office/drawing/2014/main" val="4180554329"/>
                    </a:ext>
                  </a:extLst>
                </a:gridCol>
                <a:gridCol w="949481">
                  <a:extLst>
                    <a:ext uri="{9D8B030D-6E8A-4147-A177-3AD203B41FA5}">
                      <a16:colId xmlns:a16="http://schemas.microsoft.com/office/drawing/2014/main" val="588502574"/>
                    </a:ext>
                  </a:extLst>
                </a:gridCol>
                <a:gridCol w="949481">
                  <a:extLst>
                    <a:ext uri="{9D8B030D-6E8A-4147-A177-3AD203B41FA5}">
                      <a16:colId xmlns:a16="http://schemas.microsoft.com/office/drawing/2014/main" val="1420025018"/>
                    </a:ext>
                  </a:extLst>
                </a:gridCol>
                <a:gridCol w="949481">
                  <a:extLst>
                    <a:ext uri="{9D8B030D-6E8A-4147-A177-3AD203B41FA5}">
                      <a16:colId xmlns:a16="http://schemas.microsoft.com/office/drawing/2014/main" val="3379112495"/>
                    </a:ext>
                  </a:extLst>
                </a:gridCol>
                <a:gridCol w="949481">
                  <a:extLst>
                    <a:ext uri="{9D8B030D-6E8A-4147-A177-3AD203B41FA5}">
                      <a16:colId xmlns:a16="http://schemas.microsoft.com/office/drawing/2014/main" val="4137910134"/>
                    </a:ext>
                  </a:extLst>
                </a:gridCol>
                <a:gridCol w="949481">
                  <a:extLst>
                    <a:ext uri="{9D8B030D-6E8A-4147-A177-3AD203B41FA5}">
                      <a16:colId xmlns:a16="http://schemas.microsoft.com/office/drawing/2014/main" val="2838195757"/>
                    </a:ext>
                  </a:extLst>
                </a:gridCol>
              </a:tblGrid>
              <a:tr h="902811">
                <a:tc>
                  <a:txBody>
                    <a:bodyPr/>
                    <a:lstStyle/>
                    <a:p>
                      <a:pPr algn="ctr"/>
                      <a:r>
                        <a:rPr lang="it-IT" b="1" dirty="0" err="1"/>
                        <a:t>exercise</a:t>
                      </a:r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compile_failure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crash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timeout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ipc_leak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dynamic_failure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static_failure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correct</a:t>
                      </a:r>
                      <a:endParaRPr lang="it-IT" dirty="0"/>
                    </a:p>
                    <a:p>
                      <a:pPr algn="ctr"/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626990"/>
                  </a:ext>
                </a:extLst>
              </a:tr>
              <a:tr h="1173653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calcolo_parallelo_su_un_vettore_condiviso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938351"/>
                  </a:ext>
                </a:extLst>
              </a:tr>
              <a:tr h="901807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coppia_di_buffer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00489"/>
                  </a:ext>
                </a:extLst>
              </a:tr>
              <a:tr h="1172350">
                <a:tc>
                  <a:txBody>
                    <a:bodyPr/>
                    <a:lstStyle/>
                    <a:p>
                      <a:pPr algn="ctr"/>
                      <a:r>
                        <a:rPr lang="it-IT" i="1" dirty="0"/>
                        <a:t>lettori-scrittori_con_semafori_su_una_coppia_di_valori_condivisa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41840"/>
                  </a:ext>
                </a:extLst>
              </a:tr>
              <a:tr h="1172350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simulazione_di_un_disco_con_un_vettore_circolare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003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196067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A482F-5A71-BCDA-B999-FAE0FE20A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FB1509-BA1C-55A0-406C-37FFA3080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17" y="169604"/>
            <a:ext cx="10106360" cy="1400530"/>
          </a:xfrm>
        </p:spPr>
        <p:txBody>
          <a:bodyPr/>
          <a:lstStyle/>
          <a:p>
            <a:r>
              <a:rPr lang="it-IT" dirty="0"/>
              <a:t>Distribuzione per </a:t>
            </a:r>
            <a:r>
              <a:rPr lang="it-IT" dirty="0" err="1"/>
              <a:t>failure</a:t>
            </a:r>
            <a:r>
              <a:rPr lang="it-IT" dirty="0"/>
              <a:t> </a:t>
            </a:r>
            <a:r>
              <a:rPr lang="it-IT" dirty="0" err="1"/>
              <a:t>category</a:t>
            </a:r>
            <a:r>
              <a:rPr lang="it-IT" dirty="0"/>
              <a:t> (tutti i </a:t>
            </a:r>
            <a:r>
              <a:rPr lang="it-IT" dirty="0" err="1"/>
              <a:t>commit</a:t>
            </a:r>
            <a:r>
              <a:rPr lang="it-IT" dirty="0"/>
              <a:t>, analizzando solo modifiche, es. 1)</a:t>
            </a:r>
          </a:p>
        </p:txBody>
      </p:sp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61293A33-AB34-7FB2-685F-6FF0A40C36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80420" y="1796276"/>
            <a:ext cx="7797110" cy="4678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163215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D4E1-81DD-4A63-A70A-F46FD352B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B4C6BC-235A-E1E4-06AE-754D035D3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Statistiche esercitazione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14EA82-258F-E055-161D-F82D04349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0015" y="1853248"/>
            <a:ext cx="8513754" cy="4001729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studenti con almeno 1 </a:t>
            </a:r>
            <a:r>
              <a:rPr lang="it-IT" dirty="0" err="1"/>
              <a:t>commit</a:t>
            </a:r>
            <a:r>
              <a:rPr lang="it-IT" dirty="0"/>
              <a:t>: 128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</a:t>
            </a:r>
            <a:r>
              <a:rPr lang="it-IT" dirty="0" err="1"/>
              <a:t>commit</a:t>
            </a:r>
            <a:r>
              <a:rPr lang="it-IT" dirty="0"/>
              <a:t> </a:t>
            </a:r>
            <a:r>
              <a:rPr lang="it-IT" dirty="0" err="1"/>
              <a:t>git</a:t>
            </a:r>
            <a:r>
              <a:rPr lang="it-IT" dirty="0"/>
              <a:t>: 1178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modifiche agli esercizi: 1221 (NB. Il numero totale di modifiche agli esercizi è maggiore del numero di </a:t>
            </a:r>
            <a:r>
              <a:rPr lang="it-IT" dirty="0" err="1"/>
              <a:t>commit</a:t>
            </a:r>
            <a:r>
              <a:rPr lang="it-IT" dirty="0"/>
              <a:t> perché un singolo </a:t>
            </a:r>
            <a:r>
              <a:rPr lang="it-IT" dirty="0" err="1"/>
              <a:t>commit</a:t>
            </a:r>
            <a:r>
              <a:rPr lang="it-IT" dirty="0"/>
              <a:t> può modificare più esercizi. Nel dataset, ogni coppia (</a:t>
            </a:r>
            <a:r>
              <a:rPr lang="it-IT" dirty="0" err="1"/>
              <a:t>commit</a:t>
            </a:r>
            <a:r>
              <a:rPr lang="it-IT" dirty="0"/>
              <a:t>, esercizio) viene considerata come una modifica distinta.)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modifiche analizzate tramite LLM: X</a:t>
            </a:r>
          </a:p>
        </p:txBody>
      </p:sp>
    </p:spTree>
    <p:extLst>
      <p:ext uri="{BB962C8B-B14F-4D97-AF65-F5344CB8AC3E}">
        <p14:creationId xmlns:p14="http://schemas.microsoft.com/office/powerpoint/2010/main" val="3423083570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D7092-DD19-91D5-71D2-1A999D4F3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F2D0B3-8DC4-80C7-AF59-EC629BB3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92" y="122904"/>
            <a:ext cx="9404723" cy="722670"/>
          </a:xfrm>
        </p:spPr>
        <p:txBody>
          <a:bodyPr/>
          <a:lstStyle/>
          <a:p>
            <a:r>
              <a:rPr lang="it-IT" dirty="0"/>
              <a:t>Statistiche per esercizio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32BD63-2BB1-B474-3328-160817F41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92" y="845574"/>
            <a:ext cx="11864723" cy="5322971"/>
          </a:xfrm>
        </p:spPr>
        <p:txBody>
          <a:bodyPr/>
          <a:lstStyle/>
          <a:p>
            <a:r>
              <a:rPr lang="it-IT" dirty="0"/>
              <a:t>Tabella categorie di fallimento per esercizio: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56C37483-8481-29B7-63D8-33E5038D4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430990"/>
              </p:ext>
            </p:extLst>
          </p:nvPr>
        </p:nvGraphicFramePr>
        <p:xfrm>
          <a:off x="404532" y="1261241"/>
          <a:ext cx="11639981" cy="5473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1738">
                  <a:extLst>
                    <a:ext uri="{9D8B030D-6E8A-4147-A177-3AD203B41FA5}">
                      <a16:colId xmlns:a16="http://schemas.microsoft.com/office/drawing/2014/main" val="2488145324"/>
                    </a:ext>
                  </a:extLst>
                </a:gridCol>
                <a:gridCol w="1039749">
                  <a:extLst>
                    <a:ext uri="{9D8B030D-6E8A-4147-A177-3AD203B41FA5}">
                      <a16:colId xmlns:a16="http://schemas.microsoft.com/office/drawing/2014/main" val="3865172330"/>
                    </a:ext>
                  </a:extLst>
                </a:gridCol>
                <a:gridCol w="1039749">
                  <a:extLst>
                    <a:ext uri="{9D8B030D-6E8A-4147-A177-3AD203B41FA5}">
                      <a16:colId xmlns:a16="http://schemas.microsoft.com/office/drawing/2014/main" val="4180554329"/>
                    </a:ext>
                  </a:extLst>
                </a:gridCol>
                <a:gridCol w="1039749">
                  <a:extLst>
                    <a:ext uri="{9D8B030D-6E8A-4147-A177-3AD203B41FA5}">
                      <a16:colId xmlns:a16="http://schemas.microsoft.com/office/drawing/2014/main" val="588502574"/>
                    </a:ext>
                  </a:extLst>
                </a:gridCol>
                <a:gridCol w="1039749">
                  <a:extLst>
                    <a:ext uri="{9D8B030D-6E8A-4147-A177-3AD203B41FA5}">
                      <a16:colId xmlns:a16="http://schemas.microsoft.com/office/drawing/2014/main" val="1420025018"/>
                    </a:ext>
                  </a:extLst>
                </a:gridCol>
                <a:gridCol w="1039749">
                  <a:extLst>
                    <a:ext uri="{9D8B030D-6E8A-4147-A177-3AD203B41FA5}">
                      <a16:colId xmlns:a16="http://schemas.microsoft.com/office/drawing/2014/main" val="3379112495"/>
                    </a:ext>
                  </a:extLst>
                </a:gridCol>
                <a:gridCol w="1039749">
                  <a:extLst>
                    <a:ext uri="{9D8B030D-6E8A-4147-A177-3AD203B41FA5}">
                      <a16:colId xmlns:a16="http://schemas.microsoft.com/office/drawing/2014/main" val="4137910134"/>
                    </a:ext>
                  </a:extLst>
                </a:gridCol>
                <a:gridCol w="1039749">
                  <a:extLst>
                    <a:ext uri="{9D8B030D-6E8A-4147-A177-3AD203B41FA5}">
                      <a16:colId xmlns:a16="http://schemas.microsoft.com/office/drawing/2014/main" val="2838195757"/>
                    </a:ext>
                  </a:extLst>
                </a:gridCol>
              </a:tblGrid>
              <a:tr h="928402">
                <a:tc>
                  <a:txBody>
                    <a:bodyPr/>
                    <a:lstStyle/>
                    <a:p>
                      <a:pPr algn="ctr"/>
                      <a:r>
                        <a:rPr lang="it-IT" b="1" dirty="0" err="1"/>
                        <a:t>exercise</a:t>
                      </a:r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compile_failure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crash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timeout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ipc_leak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dynamic_failure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static_failure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correct</a:t>
                      </a:r>
                      <a:endParaRPr lang="it-IT" dirty="0"/>
                    </a:p>
                    <a:p>
                      <a:pPr algn="ctr"/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626990"/>
                  </a:ext>
                </a:extLst>
              </a:tr>
              <a:tr h="1206921">
                <a:tc>
                  <a:txBody>
                    <a:bodyPr/>
                    <a:lstStyle/>
                    <a:p>
                      <a:pPr algn="ctr"/>
                      <a:r>
                        <a:rPr lang="it-IT" i="1" dirty="0"/>
                        <a:t>lettori-</a:t>
                      </a:r>
                      <a:r>
                        <a:rPr lang="it-IT" i="1" dirty="0" err="1"/>
                        <a:t>scrittori_con_monitor_e_processi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938351"/>
                  </a:ext>
                </a:extLst>
              </a:tr>
              <a:tr h="927370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prelievi_multipli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00489"/>
                  </a:ext>
                </a:extLst>
              </a:tr>
              <a:tr h="1205581">
                <a:tc>
                  <a:txBody>
                    <a:bodyPr/>
                    <a:lstStyle/>
                    <a:p>
                      <a:pPr algn="ctr"/>
                      <a:r>
                        <a:rPr lang="it-IT" i="1" dirty="0"/>
                        <a:t>produttore-</a:t>
                      </a:r>
                      <a:r>
                        <a:rPr lang="it-IT" i="1" dirty="0" err="1"/>
                        <a:t>consumatore_con_priorita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41840"/>
                  </a:ext>
                </a:extLst>
              </a:tr>
              <a:tr h="1205581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simulazione_di_un_disco_con_un_vettore_circolare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003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4797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88CCE-7D3F-7ADB-426D-1114CFC32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C7ABC9-CB34-149F-941D-712A63C2A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17" y="169604"/>
            <a:ext cx="10106360" cy="1400530"/>
          </a:xfrm>
        </p:spPr>
        <p:txBody>
          <a:bodyPr/>
          <a:lstStyle/>
          <a:p>
            <a:r>
              <a:rPr lang="it-IT" dirty="0"/>
              <a:t>Distribuzione per </a:t>
            </a:r>
            <a:r>
              <a:rPr lang="it-IT" dirty="0" err="1"/>
              <a:t>failure</a:t>
            </a:r>
            <a:r>
              <a:rPr lang="it-IT" dirty="0"/>
              <a:t> </a:t>
            </a:r>
            <a:r>
              <a:rPr lang="it-IT" dirty="0" err="1"/>
              <a:t>category</a:t>
            </a:r>
            <a:r>
              <a:rPr lang="it-IT" dirty="0"/>
              <a:t> (tutti i </a:t>
            </a:r>
            <a:r>
              <a:rPr lang="it-IT" dirty="0" err="1"/>
              <a:t>commit</a:t>
            </a:r>
            <a:r>
              <a:rPr lang="it-IT" dirty="0"/>
              <a:t>, analizzando solo modifiche, es. 2)</a:t>
            </a:r>
          </a:p>
        </p:txBody>
      </p:sp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C8DBA4A6-E5CF-6641-71C9-1D2655577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80420" y="1796276"/>
            <a:ext cx="7797110" cy="4678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85024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C7F98-FAFE-0227-F3BF-572071C0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6C86F6-4991-5604-18F6-24AFD7010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Statistiche esercitazione 3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B752F3-D0AE-43CC-B7A4-DC0D82650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0015" y="1853248"/>
            <a:ext cx="8513754" cy="4001729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studenti con almeno 1 </a:t>
            </a:r>
            <a:r>
              <a:rPr lang="it-IT" dirty="0" err="1"/>
              <a:t>commit</a:t>
            </a:r>
            <a:r>
              <a:rPr lang="it-IT" dirty="0"/>
              <a:t>: 124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</a:t>
            </a:r>
            <a:r>
              <a:rPr lang="it-IT" dirty="0" err="1"/>
              <a:t>commit</a:t>
            </a:r>
            <a:r>
              <a:rPr lang="it-IT" dirty="0"/>
              <a:t> </a:t>
            </a:r>
            <a:r>
              <a:rPr lang="it-IT" dirty="0" err="1"/>
              <a:t>git</a:t>
            </a:r>
            <a:r>
              <a:rPr lang="it-IT" dirty="0"/>
              <a:t>: 1056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modifiche agli esercizi: 935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modifiche analizzate tramite LLM: X</a:t>
            </a:r>
          </a:p>
        </p:txBody>
      </p:sp>
    </p:spTree>
    <p:extLst>
      <p:ext uri="{BB962C8B-B14F-4D97-AF65-F5344CB8AC3E}">
        <p14:creationId xmlns:p14="http://schemas.microsoft.com/office/powerpoint/2010/main" val="4077384670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316F6-2F1B-42CD-25D0-2AA3E016E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F5383A-DA84-B963-C8A5-D6642713B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92" y="122904"/>
            <a:ext cx="9404723" cy="722670"/>
          </a:xfrm>
        </p:spPr>
        <p:txBody>
          <a:bodyPr/>
          <a:lstStyle/>
          <a:p>
            <a:r>
              <a:rPr lang="it-IT" dirty="0"/>
              <a:t>Statistiche per esercizio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EB532D-CD91-D69D-2EC3-20FEF51C5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92" y="845574"/>
            <a:ext cx="11864723" cy="5322971"/>
          </a:xfrm>
        </p:spPr>
        <p:txBody>
          <a:bodyPr/>
          <a:lstStyle/>
          <a:p>
            <a:r>
              <a:rPr lang="it-IT" dirty="0"/>
              <a:t>Tabella categorie di fallimento per esercizio: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AA0F843C-7CC1-150B-89DC-56F312F257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12849"/>
              </p:ext>
            </p:extLst>
          </p:nvPr>
        </p:nvGraphicFramePr>
        <p:xfrm>
          <a:off x="404531" y="1308538"/>
          <a:ext cx="11639985" cy="5322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5414">
                  <a:extLst>
                    <a:ext uri="{9D8B030D-6E8A-4147-A177-3AD203B41FA5}">
                      <a16:colId xmlns:a16="http://schemas.microsoft.com/office/drawing/2014/main" val="2488145324"/>
                    </a:ext>
                  </a:extLst>
                </a:gridCol>
                <a:gridCol w="1213945">
                  <a:extLst>
                    <a:ext uri="{9D8B030D-6E8A-4147-A177-3AD203B41FA5}">
                      <a16:colId xmlns:a16="http://schemas.microsoft.com/office/drawing/2014/main" val="3865172330"/>
                    </a:ext>
                  </a:extLst>
                </a:gridCol>
                <a:gridCol w="1600466">
                  <a:extLst>
                    <a:ext uri="{9D8B030D-6E8A-4147-A177-3AD203B41FA5}">
                      <a16:colId xmlns:a16="http://schemas.microsoft.com/office/drawing/2014/main" val="4180554329"/>
                    </a:ext>
                  </a:extLst>
                </a:gridCol>
                <a:gridCol w="1146032">
                  <a:extLst>
                    <a:ext uri="{9D8B030D-6E8A-4147-A177-3AD203B41FA5}">
                      <a16:colId xmlns:a16="http://schemas.microsoft.com/office/drawing/2014/main" val="588502574"/>
                    </a:ext>
                  </a:extLst>
                </a:gridCol>
                <a:gridCol w="1146032">
                  <a:extLst>
                    <a:ext uri="{9D8B030D-6E8A-4147-A177-3AD203B41FA5}">
                      <a16:colId xmlns:a16="http://schemas.microsoft.com/office/drawing/2014/main" val="1420025018"/>
                    </a:ext>
                  </a:extLst>
                </a:gridCol>
                <a:gridCol w="1146032">
                  <a:extLst>
                    <a:ext uri="{9D8B030D-6E8A-4147-A177-3AD203B41FA5}">
                      <a16:colId xmlns:a16="http://schemas.microsoft.com/office/drawing/2014/main" val="3379112495"/>
                    </a:ext>
                  </a:extLst>
                </a:gridCol>
                <a:gridCol w="1146032">
                  <a:extLst>
                    <a:ext uri="{9D8B030D-6E8A-4147-A177-3AD203B41FA5}">
                      <a16:colId xmlns:a16="http://schemas.microsoft.com/office/drawing/2014/main" val="4137910134"/>
                    </a:ext>
                  </a:extLst>
                </a:gridCol>
                <a:gridCol w="1146032">
                  <a:extLst>
                    <a:ext uri="{9D8B030D-6E8A-4147-A177-3AD203B41FA5}">
                      <a16:colId xmlns:a16="http://schemas.microsoft.com/office/drawing/2014/main" val="2838195757"/>
                    </a:ext>
                  </a:extLst>
                </a:gridCol>
              </a:tblGrid>
              <a:tr h="1157811">
                <a:tc>
                  <a:txBody>
                    <a:bodyPr/>
                    <a:lstStyle/>
                    <a:p>
                      <a:pPr algn="ctr"/>
                      <a:r>
                        <a:rPr lang="it-IT" b="1" dirty="0" err="1"/>
                        <a:t>exercise</a:t>
                      </a:r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compile_failure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crash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timeout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ipc_leak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dynamic_failure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static_failure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correct</a:t>
                      </a:r>
                      <a:endParaRPr lang="it-IT" dirty="0"/>
                    </a:p>
                    <a:p>
                      <a:pPr algn="ctr"/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626990"/>
                  </a:ext>
                </a:extLst>
              </a:tr>
              <a:tr h="1505153">
                <a:tc>
                  <a:txBody>
                    <a:bodyPr/>
                    <a:lstStyle/>
                    <a:p>
                      <a:pPr algn="ctr"/>
                      <a:r>
                        <a:rPr lang="it-IT" i="1" dirty="0"/>
                        <a:t>lettori-</a:t>
                      </a:r>
                      <a:r>
                        <a:rPr lang="it-IT" i="1" dirty="0" err="1"/>
                        <a:t>scrittori_su_piu_oggetti_monitor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938351"/>
                  </a:ext>
                </a:extLst>
              </a:tr>
              <a:tr h="1156525">
                <a:tc>
                  <a:txBody>
                    <a:bodyPr/>
                    <a:lstStyle/>
                    <a:p>
                      <a:pPr algn="ctr"/>
                      <a:r>
                        <a:rPr lang="it-IT" i="1" dirty="0"/>
                        <a:t>produttore-</a:t>
                      </a:r>
                      <a:r>
                        <a:rPr lang="it-IT" i="1" dirty="0" err="1"/>
                        <a:t>consumatore_con_priorita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00489"/>
                  </a:ext>
                </a:extLst>
              </a:tr>
              <a:tr h="1503483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una_struttura_dati_stack_thread</a:t>
                      </a:r>
                      <a:r>
                        <a:rPr lang="it-IT" i="1" dirty="0"/>
                        <a:t>-safe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003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81190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6620E-01E2-16EC-8D9A-64C94492A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89939F-6E35-3E15-A91A-A27173C8D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17" y="169604"/>
            <a:ext cx="10106360" cy="1400530"/>
          </a:xfrm>
        </p:spPr>
        <p:txBody>
          <a:bodyPr/>
          <a:lstStyle/>
          <a:p>
            <a:r>
              <a:rPr lang="it-IT" dirty="0"/>
              <a:t>Distribuzione per </a:t>
            </a:r>
            <a:r>
              <a:rPr lang="it-IT" dirty="0" err="1"/>
              <a:t>failure</a:t>
            </a:r>
            <a:r>
              <a:rPr lang="it-IT" dirty="0"/>
              <a:t> </a:t>
            </a:r>
            <a:r>
              <a:rPr lang="it-IT" dirty="0" err="1"/>
              <a:t>category</a:t>
            </a:r>
            <a:r>
              <a:rPr lang="it-IT" dirty="0"/>
              <a:t> (tutti i </a:t>
            </a:r>
            <a:r>
              <a:rPr lang="it-IT" dirty="0" err="1"/>
              <a:t>commit</a:t>
            </a:r>
            <a:r>
              <a:rPr lang="it-IT" dirty="0"/>
              <a:t>, analizzando solo modifiche, es. 3)</a:t>
            </a:r>
          </a:p>
        </p:txBody>
      </p:sp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B508FFD9-75B3-B7E3-C24D-9E89D27E9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80420" y="1796276"/>
            <a:ext cx="7797110" cy="4678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76198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71EC6A-85A3-DD1A-52BE-A4F50052D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Statistiche esercitazione 4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6E8376-D75F-4ACE-EA75-7A464208D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0015" y="1853248"/>
            <a:ext cx="8513754" cy="4001729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studenti con almeno 1 </a:t>
            </a:r>
            <a:r>
              <a:rPr lang="it-IT" dirty="0" err="1"/>
              <a:t>commit</a:t>
            </a:r>
            <a:r>
              <a:rPr lang="it-IT" dirty="0"/>
              <a:t>: 117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</a:t>
            </a:r>
            <a:r>
              <a:rPr lang="it-IT" dirty="0" err="1"/>
              <a:t>commit</a:t>
            </a:r>
            <a:r>
              <a:rPr lang="it-IT" dirty="0"/>
              <a:t> </a:t>
            </a:r>
            <a:r>
              <a:rPr lang="it-IT" dirty="0" err="1"/>
              <a:t>git</a:t>
            </a:r>
            <a:r>
              <a:rPr lang="it-IT" dirty="0"/>
              <a:t>: 1245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modifiche agli esercizi: 1201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modifiche analizzate tramite LLM: 468</a:t>
            </a:r>
          </a:p>
        </p:txBody>
      </p:sp>
    </p:spTree>
    <p:extLst>
      <p:ext uri="{BB962C8B-B14F-4D97-AF65-F5344CB8AC3E}">
        <p14:creationId xmlns:p14="http://schemas.microsoft.com/office/powerpoint/2010/main" val="1397258566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D658D6-CF2B-F9ED-1E69-E04170312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92" y="122904"/>
            <a:ext cx="9404723" cy="722670"/>
          </a:xfrm>
        </p:spPr>
        <p:txBody>
          <a:bodyPr/>
          <a:lstStyle/>
          <a:p>
            <a:r>
              <a:rPr lang="it-IT" dirty="0"/>
              <a:t>Statistiche per esercizio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03B21B-BD47-10D5-E6D7-EA47501CE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92" y="845574"/>
            <a:ext cx="11864723" cy="5322971"/>
          </a:xfrm>
        </p:spPr>
        <p:txBody>
          <a:bodyPr/>
          <a:lstStyle/>
          <a:p>
            <a:r>
              <a:rPr lang="it-IT" dirty="0"/>
              <a:t>Tabella categorie di fallimento per esercizio: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6AE0678-6C07-F8CE-647E-9DA164FFB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765666"/>
              </p:ext>
            </p:extLst>
          </p:nvPr>
        </p:nvGraphicFramePr>
        <p:xfrm>
          <a:off x="404531" y="1280766"/>
          <a:ext cx="11217200" cy="5454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150">
                  <a:extLst>
                    <a:ext uri="{9D8B030D-6E8A-4147-A177-3AD203B41FA5}">
                      <a16:colId xmlns:a16="http://schemas.microsoft.com/office/drawing/2014/main" val="2488145324"/>
                    </a:ext>
                  </a:extLst>
                </a:gridCol>
                <a:gridCol w="1402150">
                  <a:extLst>
                    <a:ext uri="{9D8B030D-6E8A-4147-A177-3AD203B41FA5}">
                      <a16:colId xmlns:a16="http://schemas.microsoft.com/office/drawing/2014/main" val="3865172330"/>
                    </a:ext>
                  </a:extLst>
                </a:gridCol>
                <a:gridCol w="1402150">
                  <a:extLst>
                    <a:ext uri="{9D8B030D-6E8A-4147-A177-3AD203B41FA5}">
                      <a16:colId xmlns:a16="http://schemas.microsoft.com/office/drawing/2014/main" val="4180554329"/>
                    </a:ext>
                  </a:extLst>
                </a:gridCol>
                <a:gridCol w="1402150">
                  <a:extLst>
                    <a:ext uri="{9D8B030D-6E8A-4147-A177-3AD203B41FA5}">
                      <a16:colId xmlns:a16="http://schemas.microsoft.com/office/drawing/2014/main" val="588502574"/>
                    </a:ext>
                  </a:extLst>
                </a:gridCol>
                <a:gridCol w="1402150">
                  <a:extLst>
                    <a:ext uri="{9D8B030D-6E8A-4147-A177-3AD203B41FA5}">
                      <a16:colId xmlns:a16="http://schemas.microsoft.com/office/drawing/2014/main" val="1420025018"/>
                    </a:ext>
                  </a:extLst>
                </a:gridCol>
                <a:gridCol w="1402150">
                  <a:extLst>
                    <a:ext uri="{9D8B030D-6E8A-4147-A177-3AD203B41FA5}">
                      <a16:colId xmlns:a16="http://schemas.microsoft.com/office/drawing/2014/main" val="3379112495"/>
                    </a:ext>
                  </a:extLst>
                </a:gridCol>
                <a:gridCol w="1402150">
                  <a:extLst>
                    <a:ext uri="{9D8B030D-6E8A-4147-A177-3AD203B41FA5}">
                      <a16:colId xmlns:a16="http://schemas.microsoft.com/office/drawing/2014/main" val="4137910134"/>
                    </a:ext>
                  </a:extLst>
                </a:gridCol>
                <a:gridCol w="1402150">
                  <a:extLst>
                    <a:ext uri="{9D8B030D-6E8A-4147-A177-3AD203B41FA5}">
                      <a16:colId xmlns:a16="http://schemas.microsoft.com/office/drawing/2014/main" val="2838195757"/>
                    </a:ext>
                  </a:extLst>
                </a:gridCol>
              </a:tblGrid>
              <a:tr h="925090">
                <a:tc>
                  <a:txBody>
                    <a:bodyPr/>
                    <a:lstStyle/>
                    <a:p>
                      <a:pPr algn="ctr"/>
                      <a:r>
                        <a:rPr lang="it-IT" b="1" dirty="0" err="1"/>
                        <a:t>exercise</a:t>
                      </a:r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compile_failure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crash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timeout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ipc_leak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dynamic_failure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static_failure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correct</a:t>
                      </a:r>
                      <a:endParaRPr lang="it-IT" dirty="0"/>
                    </a:p>
                    <a:p>
                      <a:pPr algn="ctr"/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626990"/>
                  </a:ext>
                </a:extLst>
              </a:tr>
              <a:tr h="1202616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grafo_delle_dipendenze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938351"/>
                  </a:ext>
                </a:extLst>
              </a:tr>
              <a:tr h="924062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load_balancing</a:t>
                      </a:r>
                      <a:r>
                        <a:rPr lang="it-IT" i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00489"/>
                  </a:ext>
                </a:extLst>
              </a:tr>
              <a:tr h="1201281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registro_distribuito</a:t>
                      </a:r>
                      <a:r>
                        <a:rPr lang="it-IT" i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41840"/>
                  </a:ext>
                </a:extLst>
              </a:tr>
              <a:tr h="1201281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server_sincroni_multipli</a:t>
                      </a:r>
                      <a:r>
                        <a:rPr lang="it-IT" i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003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6055520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DC65-4F95-265B-8827-FB3B83E9A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4E146E-3F6C-3A25-3D79-C191C068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17" y="169604"/>
            <a:ext cx="10106360" cy="1400530"/>
          </a:xfrm>
        </p:spPr>
        <p:txBody>
          <a:bodyPr/>
          <a:lstStyle/>
          <a:p>
            <a:r>
              <a:rPr lang="it-IT" dirty="0"/>
              <a:t>Distribuzione per </a:t>
            </a:r>
            <a:r>
              <a:rPr lang="it-IT" dirty="0" err="1"/>
              <a:t>failure</a:t>
            </a:r>
            <a:r>
              <a:rPr lang="it-IT" dirty="0"/>
              <a:t> </a:t>
            </a:r>
            <a:r>
              <a:rPr lang="it-IT" dirty="0" err="1"/>
              <a:t>category</a:t>
            </a:r>
            <a:r>
              <a:rPr lang="it-IT" dirty="0"/>
              <a:t> (tutti i </a:t>
            </a:r>
            <a:r>
              <a:rPr lang="it-IT" dirty="0" err="1"/>
              <a:t>commit</a:t>
            </a:r>
            <a:r>
              <a:rPr lang="it-IT" dirty="0"/>
              <a:t>, analizzando solo modifiche, es. 4)</a:t>
            </a:r>
          </a:p>
        </p:txBody>
      </p:sp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97988DCD-7FCD-D93F-FC38-C00CC5C8D2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80420" y="1796276"/>
            <a:ext cx="7797110" cy="4678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83743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71EC6A-85A3-DD1A-52BE-A4F50052D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Statistiche esercitazione 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6E8376-D75F-4ACE-EA75-7A464208D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0015" y="1853248"/>
            <a:ext cx="8513754" cy="4001729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studenti con almeno 1 </a:t>
            </a:r>
            <a:r>
              <a:rPr lang="it-IT" dirty="0" err="1"/>
              <a:t>commit</a:t>
            </a:r>
            <a:r>
              <a:rPr lang="it-IT" dirty="0"/>
              <a:t>: 110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</a:t>
            </a:r>
            <a:r>
              <a:rPr lang="it-IT" dirty="0" err="1"/>
              <a:t>commit</a:t>
            </a:r>
            <a:r>
              <a:rPr lang="it-IT" dirty="0"/>
              <a:t> </a:t>
            </a:r>
            <a:r>
              <a:rPr lang="it-IT" dirty="0" err="1"/>
              <a:t>git</a:t>
            </a:r>
            <a:r>
              <a:rPr lang="it-IT" dirty="0"/>
              <a:t>: 1044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totale di modifiche agli esercizi: 877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it-IT" dirty="0"/>
              <a:t>Numero di modifiche analizzate tramite LLM: 330</a:t>
            </a:r>
          </a:p>
        </p:txBody>
      </p:sp>
    </p:spTree>
    <p:extLst>
      <p:ext uri="{BB962C8B-B14F-4D97-AF65-F5344CB8AC3E}">
        <p14:creationId xmlns:p14="http://schemas.microsoft.com/office/powerpoint/2010/main" val="2441821937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D658D6-CF2B-F9ED-1E69-E04170312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92" y="122904"/>
            <a:ext cx="9404723" cy="722670"/>
          </a:xfrm>
        </p:spPr>
        <p:txBody>
          <a:bodyPr/>
          <a:lstStyle/>
          <a:p>
            <a:r>
              <a:rPr lang="it-IT" dirty="0"/>
              <a:t>Statistiche per esercizio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03B21B-BD47-10D5-E6D7-EA47501CE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92" y="845574"/>
            <a:ext cx="11864723" cy="5322971"/>
          </a:xfrm>
        </p:spPr>
        <p:txBody>
          <a:bodyPr/>
          <a:lstStyle/>
          <a:p>
            <a:r>
              <a:rPr lang="it-IT" dirty="0"/>
              <a:t>Tabella categorie di fallimento per esercizio: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6AE0678-6C07-F8CE-647E-9DA164FFB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119234"/>
              </p:ext>
            </p:extLst>
          </p:nvPr>
        </p:nvGraphicFramePr>
        <p:xfrm>
          <a:off x="179795" y="1319174"/>
          <a:ext cx="11864720" cy="4700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3090">
                  <a:extLst>
                    <a:ext uri="{9D8B030D-6E8A-4147-A177-3AD203B41FA5}">
                      <a16:colId xmlns:a16="http://schemas.microsoft.com/office/drawing/2014/main" val="2488145324"/>
                    </a:ext>
                  </a:extLst>
                </a:gridCol>
                <a:gridCol w="1483090">
                  <a:extLst>
                    <a:ext uri="{9D8B030D-6E8A-4147-A177-3AD203B41FA5}">
                      <a16:colId xmlns:a16="http://schemas.microsoft.com/office/drawing/2014/main" val="3865172330"/>
                    </a:ext>
                  </a:extLst>
                </a:gridCol>
                <a:gridCol w="1483090">
                  <a:extLst>
                    <a:ext uri="{9D8B030D-6E8A-4147-A177-3AD203B41FA5}">
                      <a16:colId xmlns:a16="http://schemas.microsoft.com/office/drawing/2014/main" val="4180554329"/>
                    </a:ext>
                  </a:extLst>
                </a:gridCol>
                <a:gridCol w="1483090">
                  <a:extLst>
                    <a:ext uri="{9D8B030D-6E8A-4147-A177-3AD203B41FA5}">
                      <a16:colId xmlns:a16="http://schemas.microsoft.com/office/drawing/2014/main" val="588502574"/>
                    </a:ext>
                  </a:extLst>
                </a:gridCol>
                <a:gridCol w="1483090">
                  <a:extLst>
                    <a:ext uri="{9D8B030D-6E8A-4147-A177-3AD203B41FA5}">
                      <a16:colId xmlns:a16="http://schemas.microsoft.com/office/drawing/2014/main" val="1420025018"/>
                    </a:ext>
                  </a:extLst>
                </a:gridCol>
                <a:gridCol w="1483090">
                  <a:extLst>
                    <a:ext uri="{9D8B030D-6E8A-4147-A177-3AD203B41FA5}">
                      <a16:colId xmlns:a16="http://schemas.microsoft.com/office/drawing/2014/main" val="3379112495"/>
                    </a:ext>
                  </a:extLst>
                </a:gridCol>
                <a:gridCol w="1483090">
                  <a:extLst>
                    <a:ext uri="{9D8B030D-6E8A-4147-A177-3AD203B41FA5}">
                      <a16:colId xmlns:a16="http://schemas.microsoft.com/office/drawing/2014/main" val="4137910134"/>
                    </a:ext>
                  </a:extLst>
                </a:gridCol>
                <a:gridCol w="1483090">
                  <a:extLst>
                    <a:ext uri="{9D8B030D-6E8A-4147-A177-3AD203B41FA5}">
                      <a16:colId xmlns:a16="http://schemas.microsoft.com/office/drawing/2014/main" val="2838195757"/>
                    </a:ext>
                  </a:extLst>
                </a:gridCol>
              </a:tblGrid>
              <a:tr h="1022365">
                <a:tc>
                  <a:txBody>
                    <a:bodyPr/>
                    <a:lstStyle/>
                    <a:p>
                      <a:pPr algn="ctr"/>
                      <a:r>
                        <a:rPr lang="it-IT" b="1" dirty="0" err="1"/>
                        <a:t>exercise</a:t>
                      </a:r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compile_failure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crash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timeout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ipc_leak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dynamic_failure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/>
                        <a:t>static_failure</a:t>
                      </a:r>
                      <a:r>
                        <a:rPr lang="it-IT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correct</a:t>
                      </a:r>
                      <a:endParaRPr lang="it-IT" dirty="0"/>
                    </a:p>
                    <a:p>
                      <a:pPr algn="ctr"/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626990"/>
                  </a:ext>
                </a:extLst>
              </a:tr>
              <a:tr h="1329074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remote_procedure_call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938351"/>
                  </a:ext>
                </a:extLst>
              </a:tr>
              <a:tr h="1021229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server_aggregatore_thread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00489"/>
                  </a:ext>
                </a:extLst>
              </a:tr>
              <a:tr h="1327598">
                <a:tc>
                  <a:txBody>
                    <a:bodyPr/>
                    <a:lstStyle/>
                    <a:p>
                      <a:pPr algn="ctr"/>
                      <a:r>
                        <a:rPr lang="it-IT" i="1" dirty="0" err="1"/>
                        <a:t>un_primo_esempio_di_server_multithread</a:t>
                      </a:r>
                      <a:endParaRPr lang="it-IT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41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3704622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DC65-4F95-265B-8827-FB3B83E9A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4E146E-3F6C-3A25-3D79-C191C068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17" y="169603"/>
            <a:ext cx="10175186" cy="2003325"/>
          </a:xfrm>
        </p:spPr>
        <p:txBody>
          <a:bodyPr/>
          <a:lstStyle/>
          <a:p>
            <a:r>
              <a:rPr lang="it-IT" dirty="0"/>
              <a:t>Distribuzione per </a:t>
            </a:r>
            <a:r>
              <a:rPr lang="it-IT" dirty="0" err="1"/>
              <a:t>failure</a:t>
            </a:r>
            <a:r>
              <a:rPr lang="it-IT" dirty="0"/>
              <a:t> </a:t>
            </a:r>
            <a:r>
              <a:rPr lang="it-IT" dirty="0" err="1"/>
              <a:t>category</a:t>
            </a:r>
            <a:r>
              <a:rPr lang="it-IT" dirty="0"/>
              <a:t> (tutti i </a:t>
            </a:r>
            <a:r>
              <a:rPr lang="it-IT" dirty="0" err="1"/>
              <a:t>commit</a:t>
            </a:r>
            <a:r>
              <a:rPr lang="it-IT" dirty="0"/>
              <a:t>, analizzando solo modifiche, es. 5)</a:t>
            </a:r>
          </a:p>
        </p:txBody>
      </p:sp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97988DCD-7FCD-D93F-FC38-C00CC5C8D2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80420" y="1796276"/>
            <a:ext cx="7797110" cy="4678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194062"/>
      </p:ext>
    </p:extLst>
  </p:cSld>
  <p:clrMapOvr>
    <a:masterClrMapping/>
  </p:clrMapOvr>
  <p:transition spd="slow">
    <p:wip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placeholder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placeholder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subtitle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ot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subtitle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le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2.xml><?xml version="1.0" encoding="utf-8"?>
<a:theme xmlns:a="http://schemas.openxmlformats.org/drawingml/2006/main" name="NewYork">
  <a:themeElements>
    <a:clrScheme name="New York Base">
      <a:dk1>
        <a:srgbClr val="404040"/>
      </a:dk1>
      <a:lt1>
        <a:sysClr val="window" lastClr="FFFFFF"/>
      </a:lt1>
      <a:dk2>
        <a:srgbClr val="2468ED"/>
      </a:dk2>
      <a:lt2>
        <a:srgbClr val="FFFFFF"/>
      </a:lt2>
      <a:accent1>
        <a:srgbClr val="2468ED"/>
      </a:accent1>
      <a:accent2>
        <a:srgbClr val="8AACEF"/>
      </a:accent2>
      <a:accent3>
        <a:srgbClr val="C7D5EF"/>
      </a:accent3>
      <a:accent4>
        <a:srgbClr val="DCE3F0"/>
      </a:accent4>
      <a:accent5>
        <a:srgbClr val="E4EAF4"/>
      </a:accent5>
      <a:accent6>
        <a:srgbClr val="F0F3F8"/>
      </a:accent6>
      <a:hlink>
        <a:srgbClr val="2468ED"/>
      </a:hlink>
      <a:folHlink>
        <a:srgbClr val="404040"/>
      </a:folHlink>
    </a:clrScheme>
    <a:fontScheme name="Другая 6">
      <a:majorFont>
        <a:latin typeface="Bahnschrift"/>
        <a:ea typeface=""/>
        <a:cs typeface=""/>
      </a:majorFont>
      <a:minorFont>
        <a:latin typeface="Bahnschrift Ligh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2DE8527-8768-4F6A-BAFC-0102E4DD5135}">
  <we:reference id="wa200005566" version="3.0.0.3" store="it-IT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14665</TotalTime>
  <Words>805</Words>
  <Application>Microsoft Office PowerPoint</Application>
  <PresentationFormat>Widescreen</PresentationFormat>
  <Paragraphs>233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18</vt:i4>
      </vt:variant>
    </vt:vector>
  </HeadingPairs>
  <TitlesOfParts>
    <vt:vector size="27" baseType="lpstr">
      <vt:lpstr>Aptos</vt:lpstr>
      <vt:lpstr>Arial</vt:lpstr>
      <vt:lpstr>Bahnschrift</vt:lpstr>
      <vt:lpstr>Bahnschrift Light</vt:lpstr>
      <vt:lpstr>Century Gothic</vt:lpstr>
      <vt:lpstr>Wingdings</vt:lpstr>
      <vt:lpstr>Wingdings 3</vt:lpstr>
      <vt:lpstr>Ione</vt:lpstr>
      <vt:lpstr>NewYork</vt:lpstr>
      <vt:lpstr>LLM PER SO ESPERIMENTO 1.0 (Risultati analisi su tutti commit)</vt:lpstr>
      <vt:lpstr>Analisi effettuate (su tutti i commit con modifiche)</vt:lpstr>
      <vt:lpstr>Analisi aggregata su tutte le esercitazioni</vt:lpstr>
      <vt:lpstr>Statistiche esercitazione 1</vt:lpstr>
      <vt:lpstr>Statistiche per esercizio</vt:lpstr>
      <vt:lpstr>Distribuzione per failure category (tutti i commit, analizzando solo modifiche, es. 1)</vt:lpstr>
      <vt:lpstr>Statistiche esercitazione 2</vt:lpstr>
      <vt:lpstr>Statistiche per esercizio</vt:lpstr>
      <vt:lpstr>Distribuzione per failure category (tutti i commit, analizzando solo modifiche, es. 2)</vt:lpstr>
      <vt:lpstr>Statistiche esercitazione 3</vt:lpstr>
      <vt:lpstr>Statistiche per esercizio</vt:lpstr>
      <vt:lpstr>Distribuzione per failure category (tutti i commit, analizzando solo modifiche, es. 3)</vt:lpstr>
      <vt:lpstr>Statistiche esercitazione 4</vt:lpstr>
      <vt:lpstr>Statistiche per esercizio</vt:lpstr>
      <vt:lpstr>Distribuzione per failure category (tutti i commit, analizzando solo modifiche, es. 4)</vt:lpstr>
      <vt:lpstr>Statistiche esercitazione 5</vt:lpstr>
      <vt:lpstr>Statistiche per esercizio</vt:lpstr>
      <vt:lpstr>Distribuzione per failure category (tutti i commit, analizzando solo modifiche, es. 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PER SO ESPERIMENTO 1.0 (QUINTA  PRESENTAZIONE)</dc:title>
  <dc:creator>Andrea Esposito</dc:creator>
  <cp:lastModifiedBy>Andrea Esposito</cp:lastModifiedBy>
  <cp:revision>4</cp:revision>
  <dcterms:created xsi:type="dcterms:W3CDTF">2026-03-04T09:44:22Z</dcterms:created>
  <dcterms:modified xsi:type="dcterms:W3CDTF">2026-04-28T15:54:31Z</dcterms:modified>
</cp:coreProperties>
</file>